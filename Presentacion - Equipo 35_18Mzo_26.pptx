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4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61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8097"/>
    <a:srgbClr val="AFD8D1"/>
    <a:srgbClr val="CC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EA5A0-5574-4B46-8907-7EE04DBC2D17}" v="535" dt="2026-03-19T00:57:47.657"/>
    <p1510:client id="{707F52F5-1754-AFA0-40E4-E17981DC134E}" v="777" dt="2026-03-18T23:12:34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6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B12C-F886-1C8A-5CF3-744C56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53ED1-92D9-BE70-BD94-F7893AF76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B1376-A967-3070-CB8B-43150F840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4AA27-5714-AA05-67DA-CCBECBB972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3019-36F2-DF2B-103A-99396454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F4F96-D2DD-4391-9035-7E8DD9ED7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9A287-8053-524C-F5FA-44260DFF3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38F07-4BE0-B630-B887-0587BA714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99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EE29-0D33-8933-81D9-D63832BE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DF90A-8C0A-6FEE-C2AC-DC3BC85A6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1D9F4-A111-FE6F-EC26-59AC837B2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90F4D-9CD8-9C91-EC06-DCEC738CC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5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B085-D657-6EB6-1EC4-622CF0A1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20B5B-A436-0D63-B53B-7D8471ECB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4C192-FA80-136A-D21C-2B8F52BC1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C2404-A8B3-1466-23C0-4CFB45865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80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A7B8-3506-FC1F-8151-8E28C482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FBC43-EC3A-24D0-A03C-CFAA94CEC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48819-AF17-247F-4252-242A378A3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A42F5-AA18-A2D6-A957-325DD2985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4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4CF47-608E-5F25-6E20-EA917350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25DF5-30D4-FE9A-8D4E-0FFFC2744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70C30-C33B-67C2-DE43-5852F6DA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CBD7D-7F9F-F4AA-3FC6-6A952D66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CF645-5806-1018-4B23-8071D7ED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150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871FD-6892-EE65-A61F-660AD52C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7533" y="1090640"/>
            <a:ext cx="8179867" cy="1771788"/>
          </a:xfrm>
        </p:spPr>
        <p:txBody>
          <a:bodyPr>
            <a:normAutofit/>
          </a:bodyPr>
          <a:lstStyle/>
          <a:p>
            <a:pPr>
              <a:lnSpc>
                <a:spcPts val="3450"/>
              </a:lnSpc>
            </a:pPr>
            <a:r>
              <a:rPr lang="es-MX" sz="2800" b="1" noProof="0">
                <a:solidFill>
                  <a:srgbClr val="0814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Sistema de Visión Computacional para el
Conteo Automatizado de Productos en Anaqueles de Retail</a:t>
            </a:r>
            <a:endParaRPr lang="es-MX" sz="2800" noProof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77E962-0DC9-2DBB-100A-EDF92E708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3283"/>
            <a:ext cx="9144000" cy="3606545"/>
          </a:xfrm>
        </p:spPr>
        <p:txBody>
          <a:bodyPr>
            <a:normAutofit/>
          </a:bodyPr>
          <a:lstStyle/>
          <a:p>
            <a:pPr algn="l"/>
            <a:endParaRPr lang="es-MX" sz="2000" noProof="0">
              <a:latin typeface="Gellix" pitchFamily="2" charset="77"/>
            </a:endParaRPr>
          </a:p>
          <a:p>
            <a:pPr algn="l"/>
            <a:r>
              <a:rPr lang="es-MX" sz="2000" noProof="0">
                <a:latin typeface="Gellix" pitchFamily="2" charset="77"/>
              </a:rPr>
              <a:t>Presenta(n):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1800" noProof="0">
                <a:latin typeface="Avenir Next Condensed" panose="020B0506020202020204" pitchFamily="34" charset="0"/>
              </a:rPr>
              <a:t>María del Consuelo Ruiz Martínez — A01795993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1800" noProof="0">
                <a:latin typeface="Avenir Next Condensed" panose="020B0506020202020204" pitchFamily="34" charset="0"/>
              </a:rPr>
              <a:t>Arturo Guevara Rosas — A01796089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1800" noProof="0">
                <a:latin typeface="Avenir Next Condensed" panose="020B0506020202020204" pitchFamily="34" charset="0"/>
              </a:rPr>
              <a:t>Edgar Mendoza Martínez — A01796049.</a:t>
            </a:r>
            <a:endParaRPr lang="es-MX" sz="1800" noProof="0">
              <a:latin typeface="Avenir Next Condensed" panose="020B0506020202020204" pitchFamily="34" charset="0"/>
            </a:endParaRPr>
          </a:p>
          <a:p>
            <a:pPr>
              <a:lnSpc>
                <a:spcPts val="2381"/>
              </a:lnSpc>
            </a:pPr>
            <a:endParaRPr lang="es-MX" sz="2000" noProof="0">
              <a:latin typeface="Gellix" pitchFamily="2" charset="77"/>
            </a:endParaRPr>
          </a:p>
          <a:p>
            <a:pPr>
              <a:lnSpc>
                <a:spcPts val="2381"/>
              </a:lnSpc>
            </a:pPr>
            <a:endParaRPr lang="es-MX" sz="2000" noProof="0">
              <a:latin typeface="Gellix" pitchFamily="2" charset="77"/>
            </a:endParaRPr>
          </a:p>
          <a:p>
            <a:pPr algn="l">
              <a:lnSpc>
                <a:spcPts val="2381"/>
              </a:lnSpc>
            </a:pPr>
            <a:r>
              <a:rPr lang="es-MX" sz="2000" noProof="0">
                <a:latin typeface="Gellix" pitchFamily="2" charset="77"/>
              </a:rPr>
              <a:t>Asesor: </a:t>
            </a:r>
            <a:r>
              <a:rPr lang="es-MX" sz="2000" noProof="0"/>
              <a:t>PhD. Gerardo Jesús Camacho González</a:t>
            </a:r>
          </a:p>
          <a:p>
            <a:pPr algn="l"/>
            <a:r>
              <a:rPr lang="es-MX" sz="2000" noProof="0">
                <a:latin typeface="Gellix" pitchFamily="2" charset="77"/>
              </a:rPr>
              <a:t>Patrocinador(es): </a:t>
            </a:r>
            <a:r>
              <a:rPr lang="es-MX" sz="2000" noProof="0"/>
              <a:t>PhD. Gerardo Jesús Camacho González</a:t>
            </a:r>
            <a:endParaRPr lang="es-MX" noProof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31023E-4CB4-82E2-087A-FA103E75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47" y="0"/>
            <a:ext cx="3606800" cy="1020460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01127A1B-88DA-9A03-2675-463791875510}"/>
              </a:ext>
            </a:extLst>
          </p:cNvPr>
          <p:cNvGrpSpPr/>
          <p:nvPr/>
        </p:nvGrpSpPr>
        <p:grpSpPr>
          <a:xfrm rot="5400000">
            <a:off x="-3171598" y="3164288"/>
            <a:ext cx="6983895" cy="655320"/>
            <a:chOff x="703525" y="2152230"/>
            <a:chExt cx="10523975" cy="847409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DAB67E3-160D-D5B9-0294-3EAD0B8EB2DF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49068DCE-588D-03E6-7DB9-66EF7942DECC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E10BFA8-612A-10A1-6323-6078458470B0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1E05268-686A-7900-E5CF-E35C35042577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0" name="Paralelogramo 19">
                <a:extLst>
                  <a:ext uri="{FF2B5EF4-FFF2-40B4-BE49-F238E27FC236}">
                    <a16:creationId xmlns:a16="http://schemas.microsoft.com/office/drawing/2014/main" id="{9072E59B-7ED5-0A29-D89B-C3B8F9A87E06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</p:grp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17900E0-22A9-3D21-7199-BE9A85326727}"/>
              </a:ext>
            </a:extLst>
          </p:cNvPr>
          <p:cNvSpPr txBox="1"/>
          <p:nvPr/>
        </p:nvSpPr>
        <p:spPr>
          <a:xfrm>
            <a:off x="8941677" y="129744"/>
            <a:ext cx="3148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noProof="0">
                <a:solidFill>
                  <a:srgbClr val="1B2749"/>
                </a:solidFill>
                <a:latin typeface="Albra Regular" pitchFamily="2" charset="77"/>
              </a:rPr>
              <a:t>Maestría en Inteligencia Artificial Aplicada (MNA)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C0D8AC7-99E5-12F3-A2A9-22FE58CA3C98}"/>
              </a:ext>
            </a:extLst>
          </p:cNvPr>
          <p:cNvSpPr txBox="1"/>
          <p:nvPr/>
        </p:nvSpPr>
        <p:spPr>
          <a:xfrm>
            <a:off x="5878687" y="629335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800" noProof="0">
                <a:latin typeface="Avenir Next Condensed" panose="020B0506020202020204" pitchFamily="34" charset="0"/>
              </a:rPr>
              <a:t>18 Marzo 2026</a:t>
            </a:r>
            <a:endParaRPr lang="es-MX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4CB87F-F06E-8B15-2DCE-249E13B733CA}"/>
              </a:ext>
            </a:extLst>
          </p:cNvPr>
          <p:cNvSpPr/>
          <p:nvPr/>
        </p:nvSpPr>
        <p:spPr>
          <a:xfrm rot="16200000">
            <a:off x="-1568328" y="4294039"/>
            <a:ext cx="3915900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noProof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Presentación del Proyecto Integrador</a:t>
            </a:r>
            <a:endParaRPr lang="es-MX" sz="1100" noProof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76068F-8CB2-AFD0-B363-3BBD82BBE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598" y="2862428"/>
            <a:ext cx="3428098" cy="329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7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369" y="2571750"/>
            <a:ext cx="3084463" cy="31545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751233"/>
            <a:ext cx="12192000" cy="634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998"/>
              </a:lnSpc>
              <a:buNone/>
            </a:pPr>
            <a:r>
              <a:rPr lang="es-MX" sz="4200" b="1" noProof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Definición del Problema</a:t>
            </a:r>
            <a:endParaRPr lang="es-MX" sz="4200" noProof="0"/>
          </a:p>
        </p:txBody>
      </p:sp>
      <p:sp>
        <p:nvSpPr>
          <p:cNvPr id="5" name="Text 1"/>
          <p:cNvSpPr/>
          <p:nvPr/>
        </p:nvSpPr>
        <p:spPr>
          <a:xfrm>
            <a:off x="9144000" y="2247900"/>
            <a:ext cx="2168723" cy="7253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s-MX" sz="2400" b="1" noProof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Impacto en
el Negocio</a:t>
            </a:r>
            <a:endParaRPr lang="es-MX" sz="2400" noProof="0"/>
          </a:p>
        </p:txBody>
      </p:sp>
      <p:sp>
        <p:nvSpPr>
          <p:cNvPr id="6" name="Text 2"/>
          <p:cNvSpPr/>
          <p:nvPr/>
        </p:nvSpPr>
        <p:spPr>
          <a:xfrm>
            <a:off x="771525" y="1971675"/>
            <a:ext cx="5852160" cy="3626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s-MX" sz="2400" b="1" noProof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Situación Actual</a:t>
            </a:r>
            <a:endParaRPr lang="es-MX" sz="2400" noProof="0"/>
          </a:p>
        </p:txBody>
      </p:sp>
      <p:sp>
        <p:nvSpPr>
          <p:cNvPr id="7" name="Text 3"/>
          <p:cNvSpPr/>
          <p:nvPr/>
        </p:nvSpPr>
        <p:spPr>
          <a:xfrm>
            <a:off x="771525" y="4029075"/>
            <a:ext cx="6606540" cy="3853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035"/>
              </a:lnSpc>
              <a:buNone/>
            </a:pPr>
            <a:r>
              <a:rPr lang="es-MX" sz="2550" b="1" noProof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Desafíos Técnicos</a:t>
            </a:r>
            <a:endParaRPr lang="es-MX" sz="2550" noProof="0"/>
          </a:p>
        </p:txBody>
      </p:sp>
      <p:sp>
        <p:nvSpPr>
          <p:cNvPr id="8" name="Text 4"/>
          <p:cNvSpPr/>
          <p:nvPr/>
        </p:nvSpPr>
        <p:spPr>
          <a:xfrm>
            <a:off x="9144000" y="3143250"/>
            <a:ext cx="2399258" cy="234672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053"/>
              </a:lnSpc>
              <a:buNone/>
            </a:pPr>
            <a:r>
              <a:rPr lang="es-MX" sz="1725" b="1" noProof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Afecta
directamente el
control de
inventario,
procesos de
reabastecimiento
y la rentabilidad
general del
establecimiento</a:t>
            </a:r>
            <a:endParaRPr lang="es-MX" sz="1725" noProof="0"/>
          </a:p>
        </p:txBody>
      </p:sp>
      <p:sp>
        <p:nvSpPr>
          <p:cNvPr id="9" name="Text 5"/>
          <p:cNvSpPr/>
          <p:nvPr/>
        </p:nvSpPr>
        <p:spPr>
          <a:xfrm>
            <a:off x="771525" y="2543175"/>
            <a:ext cx="5238750" cy="85010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s-MX" sz="1875" noProof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 conteo manual de productos en retail
representa un proceso costoso, lento y
altamente propenso a errores humanos</a:t>
            </a:r>
            <a:endParaRPr lang="es-MX" sz="1875" noProof="0"/>
          </a:p>
        </p:txBody>
      </p:sp>
      <p:sp>
        <p:nvSpPr>
          <p:cNvPr id="10" name="Text 6"/>
          <p:cNvSpPr/>
          <p:nvPr/>
        </p:nvSpPr>
        <p:spPr>
          <a:xfrm>
            <a:off x="962025" y="4581525"/>
            <a:ext cx="5385346" cy="11334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s-MX" sz="1875" noProof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Oclusión entre productos superpuestos
• Variaciones de iluminación en el
ambiente
• Alta densidad de objetos en anaqueles</a:t>
            </a:r>
            <a:endParaRPr lang="es-MX" sz="1875" noProof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281C3D1-5D86-326B-268F-8358C0FEB38A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A92E51D-A984-F29F-065F-37424C9B4C3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9CA8E4E-1573-906D-9A11-5B6AEF05158A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DEDF782-6740-0EFD-9167-DDDA12A93DD9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BEA2835F-6591-5B4C-75B0-9EFAF14E4B54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6" name="Paralelogramo 15">
                <a:extLst>
                  <a:ext uri="{FF2B5EF4-FFF2-40B4-BE49-F238E27FC236}">
                    <a16:creationId xmlns:a16="http://schemas.microsoft.com/office/drawing/2014/main" id="{5C65DB44-ED5A-D16D-11F7-E38A693EA299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AAC0541-2ED8-E539-FFDB-14E017542C77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8" name="Cuadro de texto 3">
            <a:extLst>
              <a:ext uri="{FF2B5EF4-FFF2-40B4-BE49-F238E27FC236}">
                <a16:creationId xmlns:a16="http://schemas.microsoft.com/office/drawing/2014/main" id="{A5321A53-09DD-FA04-662B-9AE293A0DC30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9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059" y="3902125"/>
            <a:ext cx="670471" cy="6445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255" y="3888432"/>
            <a:ext cx="585192" cy="6651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969" y="3888432"/>
            <a:ext cx="767953" cy="685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11054" y="764951"/>
            <a:ext cx="11041380" cy="6002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727"/>
              </a:lnSpc>
              <a:buNone/>
            </a:pPr>
            <a:r>
              <a:rPr lang="es-MX" sz="3450" b="1" noProof="0">
                <a:solidFill>
                  <a:srgbClr val="0B1A42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Objetivo del Proyecto</a:t>
            </a:r>
            <a:endParaRPr lang="es-MX" sz="3450" noProof="0"/>
          </a:p>
        </p:txBody>
      </p:sp>
      <p:sp>
        <p:nvSpPr>
          <p:cNvPr id="7" name="Text 1"/>
          <p:cNvSpPr/>
          <p:nvPr/>
        </p:nvSpPr>
        <p:spPr>
          <a:xfrm>
            <a:off x="62389" y="4695825"/>
            <a:ext cx="5052060" cy="3442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11"/>
              </a:lnSpc>
              <a:buNone/>
            </a:pPr>
            <a:r>
              <a:rPr lang="es-MX" sz="1950" b="1" noProof="0">
                <a:solidFill>
                  <a:srgbClr val="191919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Detección Precisa</a:t>
            </a:r>
            <a:endParaRPr lang="es-MX" sz="1950" noProof="0"/>
          </a:p>
        </p:txBody>
      </p:sp>
      <p:sp>
        <p:nvSpPr>
          <p:cNvPr id="8" name="Text 2"/>
          <p:cNvSpPr/>
          <p:nvPr/>
        </p:nvSpPr>
        <p:spPr>
          <a:xfrm>
            <a:off x="3732341" y="4695825"/>
            <a:ext cx="5052060" cy="3442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11"/>
              </a:lnSpc>
              <a:buNone/>
            </a:pPr>
            <a:r>
              <a:rPr lang="es-MX" sz="1950" b="1" noProof="0">
                <a:solidFill>
                  <a:srgbClr val="191919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Conteo Automático</a:t>
            </a:r>
            <a:endParaRPr lang="es-MX" sz="1950" noProof="0"/>
          </a:p>
        </p:txBody>
      </p:sp>
      <p:sp>
        <p:nvSpPr>
          <p:cNvPr id="9" name="Text 3"/>
          <p:cNvSpPr/>
          <p:nvPr/>
        </p:nvSpPr>
        <p:spPr>
          <a:xfrm>
            <a:off x="7733779" y="4695825"/>
            <a:ext cx="4457700" cy="3442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11"/>
              </a:lnSpc>
              <a:buNone/>
            </a:pPr>
            <a:r>
              <a:rPr lang="es-MX" sz="1950" b="1" noProof="0">
                <a:solidFill>
                  <a:srgbClr val="191919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Aplicación Real</a:t>
            </a:r>
            <a:endParaRPr lang="es-MX" sz="1950" noProof="0"/>
          </a:p>
        </p:txBody>
      </p:sp>
      <p:sp>
        <p:nvSpPr>
          <p:cNvPr id="10" name="Text 4"/>
          <p:cNvSpPr/>
          <p:nvPr/>
        </p:nvSpPr>
        <p:spPr>
          <a:xfrm>
            <a:off x="3276600" y="1866900"/>
            <a:ext cx="6296918" cy="14263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808"/>
              </a:lnSpc>
              <a:buNone/>
            </a:pPr>
            <a:r>
              <a:rPr lang="es-MX" sz="1950" noProof="0">
                <a:solidFill>
                  <a:srgbClr val="1919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Desarrollar un sistema de visión
computacional capaz de detectar y contar
productos con alta precisión en escenarios
reales de retail con condiciones variables</a:t>
            </a:r>
            <a:endParaRPr lang="es-MX" sz="1950" noProof="0"/>
          </a:p>
        </p:txBody>
      </p:sp>
      <p:sp>
        <p:nvSpPr>
          <p:cNvPr id="11" name="Text 5"/>
          <p:cNvSpPr/>
          <p:nvPr/>
        </p:nvSpPr>
        <p:spPr>
          <a:xfrm>
            <a:off x="962025" y="5162550"/>
            <a:ext cx="3258443" cy="9465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84"/>
              </a:lnSpc>
              <a:buNone/>
            </a:pPr>
            <a:r>
              <a:rPr lang="es-MX" sz="1725" noProof="0">
                <a:solidFill>
                  <a:srgbClr val="1919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Identificar productos
individuales en imágenes
de </a:t>
            </a:r>
            <a:r>
              <a:rPr lang="es-MX" sz="1725" noProof="0" err="1">
                <a:solidFill>
                  <a:srgbClr val="1919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anaques</a:t>
            </a:r>
            <a:endParaRPr lang="es-MX" sz="1725" noProof="0"/>
          </a:p>
        </p:txBody>
      </p:sp>
      <p:sp>
        <p:nvSpPr>
          <p:cNvPr id="12" name="Text 6"/>
          <p:cNvSpPr/>
          <p:nvPr/>
        </p:nvSpPr>
        <p:spPr>
          <a:xfrm>
            <a:off x="4676775" y="5162550"/>
            <a:ext cx="3164086" cy="9465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84"/>
              </a:lnSpc>
              <a:buNone/>
            </a:pPr>
            <a:r>
              <a:rPr lang="es-MX" sz="1725" noProof="0">
                <a:solidFill>
                  <a:srgbClr val="1919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Estimar cantidad real con
alta precisión y
confiabilidad</a:t>
            </a:r>
            <a:endParaRPr lang="es-MX" sz="1725" noProof="0"/>
          </a:p>
        </p:txBody>
      </p:sp>
      <p:sp>
        <p:nvSpPr>
          <p:cNvPr id="13" name="Text 7"/>
          <p:cNvSpPr/>
          <p:nvPr/>
        </p:nvSpPr>
        <p:spPr>
          <a:xfrm>
            <a:off x="8334375" y="5162550"/>
            <a:ext cx="3289846" cy="9465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84"/>
              </a:lnSpc>
              <a:buNone/>
            </a:pPr>
            <a:r>
              <a:rPr lang="es-MX" sz="1725" noProof="0">
                <a:solidFill>
                  <a:srgbClr val="1919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Funcionar en condiciones
variables de iluminación y
densidad</a:t>
            </a:r>
            <a:endParaRPr lang="es-MX" sz="1725" noProof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8FDA771-64CC-43FB-222F-F807CEF4D854}"/>
              </a:ext>
            </a:extLst>
          </p:cNvPr>
          <p:cNvGrpSpPr/>
          <p:nvPr/>
        </p:nvGrpSpPr>
        <p:grpSpPr>
          <a:xfrm>
            <a:off x="-2926" y="-26236"/>
            <a:ext cx="12322630" cy="727520"/>
            <a:chOff x="703525" y="2152231"/>
            <a:chExt cx="10523975" cy="940772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74CE165-E936-123D-9BD4-C156B19652C8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B0A44D73-84DD-3931-E2B9-9CD7EADD1B3B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4B7CA91A-3E6B-370C-41D5-8E4577E84469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8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E4D1CB3-E775-0A12-E1E4-053207070A65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9" name="Paralelogramo 18">
                <a:extLst>
                  <a:ext uri="{FF2B5EF4-FFF2-40B4-BE49-F238E27FC236}">
                    <a16:creationId xmlns:a16="http://schemas.microsoft.com/office/drawing/2014/main" id="{CEFFB43B-3DA5-097C-4111-973FF79B1976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E33CCD8D-1A86-6A86-FF00-25FF2ECC0FE2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21" name="Cuadro de texto 3">
            <a:extLst>
              <a:ext uri="{FF2B5EF4-FFF2-40B4-BE49-F238E27FC236}">
                <a16:creationId xmlns:a16="http://schemas.microsoft.com/office/drawing/2014/main" id="{70C82E21-C14F-DE08-4666-898C88C756EE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9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80" y="4875907"/>
            <a:ext cx="585192" cy="59650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079" y="2887117"/>
            <a:ext cx="511969" cy="47997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96" y="1741884"/>
            <a:ext cx="3182094" cy="43890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1050" y="752625"/>
            <a:ext cx="11201400" cy="6161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851"/>
              </a:lnSpc>
              <a:buNone/>
            </a:pPr>
            <a:r>
              <a:rPr lang="es-MX" sz="3675" b="1" noProof="0">
                <a:solidFill>
                  <a:srgbClr val="162046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Enfoque del Proyecto</a:t>
            </a:r>
            <a:endParaRPr lang="es-MX" sz="3675" noProof="0"/>
          </a:p>
        </p:txBody>
      </p:sp>
      <p:sp>
        <p:nvSpPr>
          <p:cNvPr id="7" name="Text 1"/>
          <p:cNvSpPr/>
          <p:nvPr/>
        </p:nvSpPr>
        <p:spPr>
          <a:xfrm>
            <a:off x="4286250" y="1685925"/>
            <a:ext cx="7658993" cy="76170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99"/>
              </a:lnSpc>
              <a:buNone/>
            </a:pPr>
            <a:r>
              <a:rPr lang="es-MX" sz="2325" noProof="0">
                <a:solidFill>
                  <a:srgbClr val="2F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 iterativo con exploración progresiva
de técnicas de visión computacional</a:t>
            </a:r>
            <a:endParaRPr lang="es-MX" sz="2325" noProof="0"/>
          </a:p>
        </p:txBody>
      </p:sp>
      <p:sp>
        <p:nvSpPr>
          <p:cNvPr id="8" name="Text 2"/>
          <p:cNvSpPr/>
          <p:nvPr/>
        </p:nvSpPr>
        <p:spPr>
          <a:xfrm>
            <a:off x="4286250" y="2886075"/>
            <a:ext cx="2409825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4"/>
              </a:lnSpc>
              <a:buNone/>
            </a:pPr>
            <a:r>
              <a:rPr lang="es-MX" sz="1950" b="1" noProof="0">
                <a:solidFill>
                  <a:srgbClr val="6F61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Notebooks
Experimentales</a:t>
            </a:r>
            <a:endParaRPr lang="es-MX" sz="1950" noProof="0"/>
          </a:p>
        </p:txBody>
      </p:sp>
      <p:sp>
        <p:nvSpPr>
          <p:cNvPr id="9" name="Text 3"/>
          <p:cNvSpPr/>
          <p:nvPr/>
        </p:nvSpPr>
        <p:spPr>
          <a:xfrm>
            <a:off x="4286250" y="4857750"/>
            <a:ext cx="2095500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4"/>
              </a:lnSpc>
              <a:buNone/>
            </a:pPr>
            <a:r>
              <a:rPr lang="es-MX" sz="1950" b="1" noProof="0">
                <a:solidFill>
                  <a:srgbClr val="6F61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Refinamiento
Progresivo</a:t>
            </a:r>
            <a:endParaRPr lang="es-MX" sz="1950" noProof="0"/>
          </a:p>
        </p:txBody>
      </p:sp>
      <p:sp>
        <p:nvSpPr>
          <p:cNvPr id="10" name="Text 4"/>
          <p:cNvSpPr/>
          <p:nvPr/>
        </p:nvSpPr>
        <p:spPr>
          <a:xfrm>
            <a:off x="7867650" y="2886075"/>
            <a:ext cx="2126903" cy="5893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1"/>
              </a:lnSpc>
              <a:buNone/>
            </a:pPr>
            <a:r>
              <a:rPr lang="es-MX" sz="1950" b="1" noProof="0">
                <a:solidFill>
                  <a:srgbClr val="6F61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Evolución
Metodológica</a:t>
            </a:r>
            <a:endParaRPr lang="es-MX" sz="1950" noProof="0"/>
          </a:p>
        </p:txBody>
      </p:sp>
      <p:sp>
        <p:nvSpPr>
          <p:cNvPr id="11" name="Text 5"/>
          <p:cNvSpPr/>
          <p:nvPr/>
        </p:nvSpPr>
        <p:spPr>
          <a:xfrm>
            <a:off x="7543800" y="5095875"/>
            <a:ext cx="4358580" cy="980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574"/>
              </a:lnSpc>
              <a:buNone/>
            </a:pPr>
            <a:r>
              <a:rPr lang="es-MX" sz="1950" i="1" noProof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Enfoque científico riguroso con
documentación exhaustiva
para reproducibilidad</a:t>
            </a:r>
            <a:endParaRPr lang="es-MX" sz="1950" noProof="0"/>
          </a:p>
        </p:txBody>
      </p:sp>
      <p:sp>
        <p:nvSpPr>
          <p:cNvPr id="12" name="Text 6"/>
          <p:cNvSpPr/>
          <p:nvPr/>
        </p:nvSpPr>
        <p:spPr>
          <a:xfrm>
            <a:off x="4286250" y="3695700"/>
            <a:ext cx="2661196" cy="5783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77"/>
              </a:lnSpc>
              <a:buNone/>
            </a:pPr>
            <a:r>
              <a:rPr lang="es-MX" sz="1725" noProof="0">
                <a:solidFill>
                  <a:srgbClr val="2F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
completa del proceso</a:t>
            </a:r>
            <a:endParaRPr lang="es-MX" sz="1725" noProof="0"/>
          </a:p>
        </p:txBody>
      </p:sp>
      <p:sp>
        <p:nvSpPr>
          <p:cNvPr id="13" name="Text 7"/>
          <p:cNvSpPr/>
          <p:nvPr/>
        </p:nvSpPr>
        <p:spPr>
          <a:xfrm>
            <a:off x="4286250" y="5667375"/>
            <a:ext cx="2713583" cy="5783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77"/>
              </a:lnSpc>
              <a:buNone/>
            </a:pPr>
            <a:r>
              <a:rPr lang="es-MX" sz="1725" noProof="0">
                <a:solidFill>
                  <a:srgbClr val="2F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Ajuste de sensibilidad
y parámetros</a:t>
            </a:r>
            <a:endParaRPr lang="es-MX" sz="1725" noProof="0"/>
          </a:p>
        </p:txBody>
      </p:sp>
      <p:sp>
        <p:nvSpPr>
          <p:cNvPr id="14" name="Text 8"/>
          <p:cNvSpPr/>
          <p:nvPr/>
        </p:nvSpPr>
        <p:spPr>
          <a:xfrm>
            <a:off x="7867650" y="3695700"/>
            <a:ext cx="3164086" cy="5533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78"/>
              </a:lnSpc>
              <a:buNone/>
            </a:pPr>
            <a:r>
              <a:rPr lang="es-MX" sz="1650" noProof="0">
                <a:solidFill>
                  <a:srgbClr val="2F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técnicas clásicas
hasta enfoques avanzados</a:t>
            </a:r>
            <a:endParaRPr lang="es-MX" sz="1650" noProof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9AF8509-A604-B141-BB07-F5F303F8CD7C}"/>
              </a:ext>
            </a:extLst>
          </p:cNvPr>
          <p:cNvGrpSpPr/>
          <p:nvPr/>
        </p:nvGrpSpPr>
        <p:grpSpPr>
          <a:xfrm>
            <a:off x="-1" y="0"/>
            <a:ext cx="12322630" cy="727517"/>
            <a:chOff x="703525" y="2152231"/>
            <a:chExt cx="10523975" cy="940768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9FD15D8-31F7-6231-D150-7A223DC9B29E}"/>
                </a:ext>
              </a:extLst>
            </p:cNvPr>
            <p:cNvSpPr/>
            <p:nvPr/>
          </p:nvSpPr>
          <p:spPr>
            <a:xfrm>
              <a:off x="703525" y="2152232"/>
              <a:ext cx="10523975" cy="847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C7C9F6B0-CC19-F3ED-298C-FF0FF4318CAD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68"/>
              <a:chOff x="703525" y="2152452"/>
              <a:chExt cx="10412414" cy="1580327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2FEDB1A4-8F6E-3ADB-78C5-913CED163524}"/>
                  </a:ext>
                </a:extLst>
              </p:cNvPr>
              <p:cNvSpPr/>
              <p:nvPr/>
            </p:nvSpPr>
            <p:spPr>
              <a:xfrm>
                <a:off x="3657601" y="2152452"/>
                <a:ext cx="7458338" cy="1418698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6041599D-F3E5-85E4-8751-680FDF57CF1A}"/>
                  </a:ext>
                </a:extLst>
              </p:cNvPr>
              <p:cNvSpPr/>
              <p:nvPr/>
            </p:nvSpPr>
            <p:spPr>
              <a:xfrm>
                <a:off x="703525" y="2157253"/>
                <a:ext cx="2458800" cy="1418701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0" name="Paralelogramo 19">
                <a:extLst>
                  <a:ext uri="{FF2B5EF4-FFF2-40B4-BE49-F238E27FC236}">
                    <a16:creationId xmlns:a16="http://schemas.microsoft.com/office/drawing/2014/main" id="{F5C3ACF0-B0A8-59F0-EE5C-CB88B11D2B7C}"/>
                  </a:ext>
                </a:extLst>
              </p:cNvPr>
              <p:cNvSpPr/>
              <p:nvPr/>
            </p:nvSpPr>
            <p:spPr>
              <a:xfrm>
                <a:off x="2860775" y="2152452"/>
                <a:ext cx="1127400" cy="1418701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D474B541-8126-F18A-4267-9D5777514476}"/>
                  </a:ext>
                </a:extLst>
              </p:cNvPr>
              <p:cNvSpPr/>
              <p:nvPr/>
            </p:nvSpPr>
            <p:spPr>
              <a:xfrm>
                <a:off x="3681324" y="2395391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22" name="Cuadro de texto 3">
            <a:extLst>
              <a:ext uri="{FF2B5EF4-FFF2-40B4-BE49-F238E27FC236}">
                <a16:creationId xmlns:a16="http://schemas.microsoft.com/office/drawing/2014/main" id="{431EC32B-836B-3743-0168-70B376C412B7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66" y="2587370"/>
            <a:ext cx="1487388" cy="14744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668" y="2594365"/>
            <a:ext cx="1499592" cy="14675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137907" y="730647"/>
            <a:ext cx="9909810" cy="6994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5508"/>
              </a:lnSpc>
              <a:buNone/>
            </a:pPr>
            <a:r>
              <a:rPr lang="es-MX" sz="3825" b="1" noProof="0">
                <a:solidFill>
                  <a:srgbClr val="162046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Métodos Evaluados</a:t>
            </a:r>
            <a:endParaRPr lang="es-MX" sz="3825" noProof="0"/>
          </a:p>
        </p:txBody>
      </p:sp>
      <p:sp>
        <p:nvSpPr>
          <p:cNvPr id="8" name="Text 1"/>
          <p:cNvSpPr/>
          <p:nvPr/>
        </p:nvSpPr>
        <p:spPr>
          <a:xfrm>
            <a:off x="-1" y="1717096"/>
            <a:ext cx="12192001" cy="4286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375"/>
              </a:lnSpc>
              <a:buNone/>
            </a:pPr>
            <a:r>
              <a:rPr lang="es-MX" sz="2250" noProof="0">
                <a:solidFill>
                  <a:srgbClr val="5F564E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Técnicas de visión computacional</a:t>
            </a:r>
            <a:endParaRPr lang="es-MX" sz="2250" noProof="0"/>
          </a:p>
        </p:txBody>
      </p:sp>
      <p:sp>
        <p:nvSpPr>
          <p:cNvPr id="9" name="Text 2"/>
          <p:cNvSpPr/>
          <p:nvPr/>
        </p:nvSpPr>
        <p:spPr>
          <a:xfrm>
            <a:off x="3001389" y="4343542"/>
            <a:ext cx="2766060" cy="3268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574"/>
              </a:lnSpc>
              <a:buNone/>
            </a:pPr>
            <a:r>
              <a:rPr lang="es-MX" sz="1650" b="1" noProof="0">
                <a:latin typeface="OpenSans-Regular"/>
              </a:rPr>
              <a:t>YOLO</a:t>
            </a:r>
          </a:p>
        </p:txBody>
      </p:sp>
      <p:sp>
        <p:nvSpPr>
          <p:cNvPr id="10" name="Text 3"/>
          <p:cNvSpPr/>
          <p:nvPr/>
        </p:nvSpPr>
        <p:spPr>
          <a:xfrm>
            <a:off x="5469909" y="4343542"/>
            <a:ext cx="3600450" cy="31209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algn="ctr">
              <a:lnSpc>
                <a:spcPts val="2457"/>
              </a:lnSpc>
            </a:pPr>
            <a:r>
              <a:rPr lang="es-MX" sz="1550" b="1" noProof="0">
                <a:latin typeface="OpenSans-Regular"/>
              </a:rPr>
              <a:t>Grounding- DINO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2469ECC-076E-4CC1-45DA-202EFDA2C86C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626EBE8-44F9-0517-B1C8-096D82E833AD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CB5FB1FA-69D8-2709-3625-DD3241710432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15A548FB-CA4A-3E6C-61C9-A803C4F99E49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6F85F100-F9D1-54FA-DB11-E3F2C37740B6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22" name="Paralelogramo 21">
                <a:extLst>
                  <a:ext uri="{FF2B5EF4-FFF2-40B4-BE49-F238E27FC236}">
                    <a16:creationId xmlns:a16="http://schemas.microsoft.com/office/drawing/2014/main" id="{0F1613A1-EEF7-D528-3E27-DAD7E55C8F08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</p:grpSp>
      </p:grpSp>
      <p:sp>
        <p:nvSpPr>
          <p:cNvPr id="24" name="Cuadro de texto 3">
            <a:extLst>
              <a:ext uri="{FF2B5EF4-FFF2-40B4-BE49-F238E27FC236}">
                <a16:creationId xmlns:a16="http://schemas.microsoft.com/office/drawing/2014/main" id="{D7C9732D-CF2E-D998-35BC-F46DDD398902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BAF528-28E7-7CF4-DBC4-36A5EC72356E}"/>
              </a:ext>
            </a:extLst>
          </p:cNvPr>
          <p:cNvSpPr txBox="1"/>
          <p:nvPr/>
        </p:nvSpPr>
        <p:spPr>
          <a:xfrm>
            <a:off x="3043595" y="4830081"/>
            <a:ext cx="24689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MX" sz="1200" b="1" noProof="0">
                <a:latin typeface="Aptos"/>
              </a:rPr>
              <a:t>es </a:t>
            </a:r>
            <a:r>
              <a:rPr lang="es-MX" sz="1200" noProof="0">
                <a:latin typeface="Aptos"/>
              </a:rPr>
              <a:t>un algoritmo de </a:t>
            </a:r>
            <a:r>
              <a:rPr lang="es-MX" sz="1200" b="1" noProof="0">
                <a:latin typeface="Aptos"/>
              </a:rPr>
              <a:t>detección de objetos en tiempo real</a:t>
            </a:r>
            <a:r>
              <a:rPr lang="es-MX" sz="1200" noProof="0">
                <a:latin typeface="Aptos"/>
              </a:rPr>
              <a:t> basado en redes neuronales profundas, ampliamente utilizado en el área de Visión Computacional</a:t>
            </a:r>
            <a:endParaRPr lang="es-MX" sz="1200" noProof="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E13C18-54D0-E671-7DA6-4CADC0C903EE}"/>
              </a:ext>
            </a:extLst>
          </p:cNvPr>
          <p:cNvSpPr txBox="1"/>
          <p:nvPr/>
        </p:nvSpPr>
        <p:spPr>
          <a:xfrm>
            <a:off x="5956818" y="4864346"/>
            <a:ext cx="250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MX" sz="1200" noProof="0">
                <a:latin typeface="Aptos"/>
              </a:rPr>
              <a:t>es un modelo reciente de detección basado en </a:t>
            </a:r>
            <a:r>
              <a:rPr lang="es-MX" sz="1200" b="1" noProof="0">
                <a:latin typeface="Aptos"/>
              </a:rPr>
              <a:t>Transformers y lenguaje natural</a:t>
            </a:r>
            <a:r>
              <a:rPr lang="es-MX" sz="1200" noProof="0">
                <a:latin typeface="Aptos"/>
              </a:rPr>
              <a:t> que permite detectar objetos usando texto como guía.</a:t>
            </a:r>
            <a:endParaRPr lang="es-MX" noProof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ángulo 20">
            <a:extLst>
              <a:ext uri="{FF2B5EF4-FFF2-40B4-BE49-F238E27FC236}">
                <a16:creationId xmlns:a16="http://schemas.microsoft.com/office/drawing/2014/main" id="{98EC97CC-9C24-DDB0-7D25-A9A38AE9AF8D}"/>
              </a:ext>
            </a:extLst>
          </p:cNvPr>
          <p:cNvSpPr/>
          <p:nvPr/>
        </p:nvSpPr>
        <p:spPr>
          <a:xfrm>
            <a:off x="3486734" y="111839"/>
            <a:ext cx="8500808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b="1" noProof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Conteo Automatizado de Productos en Anaqueles</a:t>
            </a:r>
            <a:endParaRPr lang="es-MX" sz="1100" noProof="0">
              <a:solidFill>
                <a:schemeClr val="bg1"/>
              </a:solidFill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EDC57-40EF-7C80-4BA1-A84BF38B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536E62D-1FE4-99A9-755A-48C6D34B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41" y="413382"/>
            <a:ext cx="11430000" cy="8382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A80F8BE7-485E-E25E-DF87-9C89D2549DAE}"/>
              </a:ext>
            </a:extLst>
          </p:cNvPr>
          <p:cNvSpPr/>
          <p:nvPr/>
        </p:nvSpPr>
        <p:spPr>
          <a:xfrm>
            <a:off x="408776" y="548637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4000" b="1">
                <a:solidFill>
                  <a:srgbClr val="162046"/>
                </a:solidFill>
                <a:ea typeface="+mn-lt"/>
                <a:cs typeface="+mn-lt"/>
              </a:rPr>
              <a:t>YOLO Training</a:t>
            </a:r>
            <a:endParaRPr lang="en-US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259BC638-698E-16D3-EE0A-0FCD6CA91EA9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EDB4789C-E700-2308-80E4-BACD5ECF9BD8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9BC0B70F-2772-5F93-FFF1-827726DDD298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DA9AD013-1858-51A7-4A9D-1231B45A9624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05633E3C-0BEE-0EF3-E998-1AE8E06D67A1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A9356512-07EB-A55F-D127-6C5B4C4BA93F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BAF4503E-857B-46FD-E582-5257067FD2E6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Automatizado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de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Productos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en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Anaqueles</a:t>
                </a:r>
                <a:endParaRPr lang="es-MX" sz="110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9734C77B-53A7-9DE8-4D25-AEE991C2C494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942C8D9F-7FD7-C6B5-23C2-AC85D891F9AD}"/>
              </a:ext>
            </a:extLst>
          </p:cNvPr>
          <p:cNvSpPr/>
          <p:nvPr/>
        </p:nvSpPr>
        <p:spPr>
          <a:xfrm>
            <a:off x="413922" y="1309695"/>
            <a:ext cx="2336453" cy="8938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346"/>
              </a:lnSpc>
            </a:pPr>
            <a:r>
              <a:rPr lang="en-US" sz="1700" b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Roboflow DataSet</a:t>
            </a:r>
          </a:p>
          <a:p>
            <a:pPr>
              <a:lnSpc>
                <a:spcPts val="2346"/>
              </a:lnSpc>
            </a:pPr>
            <a:r>
              <a:rPr lang="en-US" sz="1700" b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150 epoch</a:t>
            </a:r>
            <a:endParaRPr lang="en-US">
              <a:solidFill>
                <a:srgbClr val="000000"/>
              </a:solidFill>
              <a:latin typeface="Montserrat"/>
              <a:ea typeface="Calibri"/>
              <a:cs typeface="Calibri"/>
            </a:endParaRPr>
          </a:p>
          <a:p>
            <a:pPr marL="0" indent="0">
              <a:lnSpc>
                <a:spcPts val="2346"/>
              </a:lnSpc>
              <a:buNone/>
            </a:pPr>
            <a:r>
              <a:rPr lang="en-US" sz="1700" b="1">
                <a:solidFill>
                  <a:srgbClr val="191919"/>
                </a:solidFill>
                <a:latin typeface="Montserrat"/>
              </a:rPr>
              <a:t> </a:t>
            </a:r>
            <a:endParaRPr lang="en-US"/>
          </a:p>
        </p:txBody>
      </p:sp>
      <p:pic>
        <p:nvPicPr>
          <p:cNvPr id="4" name="Picture 3" descr="A row of bottles of soda&#10;&#10;AI-generated content may be incorrect.">
            <a:extLst>
              <a:ext uri="{FF2B5EF4-FFF2-40B4-BE49-F238E27FC236}">
                <a16:creationId xmlns:a16="http://schemas.microsoft.com/office/drawing/2014/main" id="{E6382EA3-FA46-D57F-CD63-12E1D01B3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099" y="2497042"/>
            <a:ext cx="3734938" cy="3353796"/>
          </a:xfrm>
          <a:prstGeom prst="rect">
            <a:avLst/>
          </a:prstGeom>
        </p:spPr>
      </p:pic>
      <p:pic>
        <p:nvPicPr>
          <p:cNvPr id="6" name="Picture 5" descr="A close up of a bottle&#10;&#10;AI-generated content may be incorrect.">
            <a:extLst>
              <a:ext uri="{FF2B5EF4-FFF2-40B4-BE49-F238E27FC236}">
                <a16:creationId xmlns:a16="http://schemas.microsoft.com/office/drawing/2014/main" id="{977CC8E2-D7FD-82F8-9080-541AFF0E5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39" y="2369521"/>
            <a:ext cx="1433584" cy="3460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AB7423-4040-04FE-599E-2AD8B60F3DB9}"/>
              </a:ext>
            </a:extLst>
          </p:cNvPr>
          <p:cNvSpPr txBox="1"/>
          <p:nvPr/>
        </p:nvSpPr>
        <p:spPr>
          <a:xfrm>
            <a:off x="4238967" y="2725019"/>
            <a:ext cx="53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45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A row of bottles of soda&#10;&#10;AI-generated content may be incorrect.">
            <a:extLst>
              <a:ext uri="{FF2B5EF4-FFF2-40B4-BE49-F238E27FC236}">
                <a16:creationId xmlns:a16="http://schemas.microsoft.com/office/drawing/2014/main" id="{04B0E444-0CB6-C63A-A42E-6FCA7F79F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187" y="2497042"/>
            <a:ext cx="3734938" cy="33537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71C92B-C015-8A8F-A2ED-E3D8FF63A8EB}"/>
              </a:ext>
            </a:extLst>
          </p:cNvPr>
          <p:cNvSpPr txBox="1"/>
          <p:nvPr/>
        </p:nvSpPr>
        <p:spPr>
          <a:xfrm>
            <a:off x="8947444" y="2725018"/>
            <a:ext cx="53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910A5-64D1-CF4A-23E7-DFE199A01967}"/>
              </a:ext>
            </a:extLst>
          </p:cNvPr>
          <p:cNvSpPr/>
          <p:nvPr/>
        </p:nvSpPr>
        <p:spPr>
          <a:xfrm>
            <a:off x="8971924" y="3891458"/>
            <a:ext cx="443759" cy="13141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A4E94B-26B0-4E9D-7BA6-C0D6D8AE2F51}"/>
              </a:ext>
            </a:extLst>
          </p:cNvPr>
          <p:cNvSpPr txBox="1"/>
          <p:nvPr/>
        </p:nvSpPr>
        <p:spPr>
          <a:xfrm>
            <a:off x="9152160" y="3589377"/>
            <a:ext cx="53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7B051FF-30C9-26CC-180A-1B21AA515D5D}"/>
              </a:ext>
            </a:extLst>
          </p:cNvPr>
          <p:cNvSpPr/>
          <p:nvPr/>
        </p:nvSpPr>
        <p:spPr>
          <a:xfrm>
            <a:off x="3052489" y="1559903"/>
            <a:ext cx="3723975" cy="8938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346"/>
              </a:lnSpc>
            </a:pPr>
            <a:r>
              <a:rPr lang="es-MX" sz="1700" b="1">
                <a:solidFill>
                  <a:srgbClr val="191919"/>
                </a:solidFill>
                <a:latin typeface="Montserrat"/>
              </a:rPr>
              <a:t>Threshold</a:t>
            </a:r>
            <a:r>
              <a:rPr lang="es-MX" sz="1200">
                <a:solidFill>
                  <a:srgbClr val="191919"/>
                </a:solidFill>
                <a:latin typeface="Aptos"/>
              </a:rPr>
              <a:t> </a:t>
            </a:r>
            <a:r>
              <a:rPr lang="en-US" sz="1700" b="1">
                <a:solidFill>
                  <a:srgbClr val="191919"/>
                </a:solidFill>
                <a:latin typeface="Montserrat"/>
              </a:rPr>
              <a:t>0.25 </a:t>
            </a:r>
            <a:endParaRPr lang="en-US"/>
          </a:p>
          <a:p>
            <a:r>
              <a:rPr lang="es-MX" sz="1700">
                <a:solidFill>
                  <a:srgbClr val="191919"/>
                </a:solidFill>
                <a:ea typeface="+mn-lt"/>
                <a:cs typeface="+mn-lt"/>
              </a:rPr>
              <a:t>es el valor mínimo de confianza que debe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s-MX" sz="1700">
                <a:solidFill>
                  <a:srgbClr val="191919"/>
                </a:solidFill>
                <a:ea typeface="+mn-lt"/>
                <a:cs typeface="+mn-lt"/>
              </a:rPr>
              <a:t>tener una detección para ser aceptada.</a:t>
            </a:r>
            <a:endParaRPr lang="en-US">
              <a:ea typeface="Calibri"/>
              <a:cs typeface="Calibri"/>
            </a:endParaRPr>
          </a:p>
          <a:p>
            <a:pPr>
              <a:lnSpc>
                <a:spcPts val="2346"/>
              </a:lnSpc>
            </a:pPr>
            <a:endParaRPr lang="en-US" sz="1700" b="1">
              <a:solidFill>
                <a:srgbClr val="191919"/>
              </a:solidFill>
              <a:latin typeface="Montserrat"/>
            </a:endParaRPr>
          </a:p>
          <a:p>
            <a:pPr>
              <a:lnSpc>
                <a:spcPts val="2346"/>
              </a:lnSpc>
            </a:pPr>
            <a:endParaRPr lang="en-US" sz="1700" b="1">
              <a:solidFill>
                <a:srgbClr val="191919"/>
              </a:solidFill>
              <a:latin typeface="Montserrat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9AF35C5B-1898-5093-6F47-A23682351C64}"/>
              </a:ext>
            </a:extLst>
          </p:cNvPr>
          <p:cNvSpPr/>
          <p:nvPr/>
        </p:nvSpPr>
        <p:spPr>
          <a:xfrm>
            <a:off x="7840578" y="1389305"/>
            <a:ext cx="3883199" cy="10417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346"/>
              </a:lnSpc>
            </a:pPr>
            <a:r>
              <a:rPr lang="en-US" sz="1700" b="1">
                <a:solidFill>
                  <a:srgbClr val="191919"/>
                </a:solidFill>
                <a:latin typeface="Montserrat"/>
              </a:rPr>
              <a:t>IoU 0.65</a:t>
            </a:r>
          </a:p>
          <a:p>
            <a:pPr>
              <a:lnSpc>
                <a:spcPts val="2346"/>
              </a:lnSpc>
            </a:pPr>
            <a:r>
              <a:rPr lang="es-MX" sz="1700">
                <a:solidFill>
                  <a:srgbClr val="191919"/>
                </a:solidFill>
                <a:latin typeface="Aptos"/>
              </a:rPr>
              <a:t>mide qué tanto se superponen </a:t>
            </a:r>
            <a:endParaRPr lang="en-US" sz="170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lnSpc>
                <a:spcPts val="2346"/>
              </a:lnSpc>
            </a:pPr>
            <a:r>
              <a:rPr lang="es-MX" sz="1700">
                <a:solidFill>
                  <a:srgbClr val="191919"/>
                </a:solidFill>
                <a:latin typeface="Aptos"/>
              </a:rPr>
              <a:t>dos bounding boxes, para eliminar </a:t>
            </a:r>
            <a:endParaRPr lang="en-US" sz="170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lnSpc>
                <a:spcPts val="2346"/>
              </a:lnSpc>
            </a:pPr>
            <a:r>
              <a:rPr lang="es-MX" sz="1700">
                <a:solidFill>
                  <a:srgbClr val="191919"/>
                </a:solidFill>
                <a:latin typeface="Aptos"/>
              </a:rPr>
              <a:t>detecciones duplicadas </a:t>
            </a:r>
            <a:endParaRPr lang="en-US" sz="17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86119-C601-CC68-525E-B7B3456C9FC7}"/>
              </a:ext>
            </a:extLst>
          </p:cNvPr>
          <p:cNvSpPr txBox="1"/>
          <p:nvPr/>
        </p:nvSpPr>
        <p:spPr>
          <a:xfrm>
            <a:off x="631503" y="6093153"/>
            <a:ext cx="1153773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ea typeface="Calibri"/>
                <a:cs typeface="Calibri"/>
              </a:rPr>
              <a:t>El </a:t>
            </a:r>
            <a:r>
              <a:rPr lang="es-MX" sz="1700">
                <a:latin typeface="Aptos"/>
                <a:ea typeface="Calibri"/>
                <a:cs typeface="Calibri"/>
              </a:rPr>
              <a:t>objetivo es encontrar un </a:t>
            </a:r>
            <a:r>
              <a:rPr lang="es-MX" sz="1700" b="1">
                <a:latin typeface="Aptos"/>
                <a:ea typeface="Calibri"/>
                <a:cs typeface="Calibri"/>
              </a:rPr>
              <a:t>equilibrio óptimo</a:t>
            </a:r>
            <a:r>
              <a:rPr lang="es-MX" sz="1700">
                <a:latin typeface="Aptos"/>
                <a:ea typeface="Calibri"/>
                <a:cs typeface="Calibri"/>
              </a:rPr>
              <a:t> entre detecciones correctas y detecciones pérdidas causadas por productos parcialmente ocultos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36852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BD8F-7DFE-FA07-DCEE-61D1FF06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EE4C1AE-2CC1-DA1F-8148-9CBA664B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13382"/>
            <a:ext cx="11430000" cy="8382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6EEDC182-47F8-A4A7-D23D-C5EE1D14F68A}"/>
              </a:ext>
            </a:extLst>
          </p:cNvPr>
          <p:cNvSpPr/>
          <p:nvPr/>
        </p:nvSpPr>
        <p:spPr>
          <a:xfrm>
            <a:off x="408776" y="548637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4000" b="1">
                <a:solidFill>
                  <a:srgbClr val="162046"/>
                </a:solidFill>
                <a:ea typeface="+mn-lt"/>
                <a:cs typeface="+mn-lt"/>
              </a:rPr>
              <a:t>YOLO Training</a:t>
            </a:r>
            <a:endParaRPr lang="en-US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A8451DE2-8D41-70F0-2EB8-897F895B36B0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93A052B0-7CD7-DDA4-D4F8-15E7D19759D7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68645A54-A4C9-8F0B-44E9-654FF54E5DD7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B3E101C8-A272-16B5-65B7-1294F39A4E46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C26F034B-8051-6913-F578-FA50BCC71019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B187CE5C-801A-93B1-8403-8EAD2EEA78C5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BCE93CB6-FE34-62F0-CB17-6BBD17107CD9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Automatizado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de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Productos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en</a:t>
                </a:r>
                <a:r>
                  <a:rPr lang="en-US" sz="1400" b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400" b="1" err="1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Anaqueles</a:t>
                </a:r>
                <a:endParaRPr lang="es-MX" sz="110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D9EBE584-8AB5-88ED-2F4D-C83EF4DA6E8B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DE97729-9045-14DF-73A1-30C75ADB3D44}"/>
              </a:ext>
            </a:extLst>
          </p:cNvPr>
          <p:cNvSpPr/>
          <p:nvPr/>
        </p:nvSpPr>
        <p:spPr>
          <a:xfrm>
            <a:off x="3050044" y="1393334"/>
            <a:ext cx="5760720" cy="3626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n-US" sz="2100" b="1">
                <a:solidFill>
                  <a:srgbClr val="4949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 Panel</a:t>
            </a:r>
            <a:endParaRPr lang="en-US" sz="2100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70D5D869-F195-CD7B-ADD8-A2C676714633}"/>
              </a:ext>
            </a:extLst>
          </p:cNvPr>
          <p:cNvSpPr/>
          <p:nvPr/>
        </p:nvSpPr>
        <p:spPr>
          <a:xfrm>
            <a:off x="181945" y="2723610"/>
            <a:ext cx="2656519" cy="85501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171450" indent="-171450">
              <a:lnSpc>
                <a:spcPts val="2244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Precision &gt;0.83 mayor </a:t>
            </a: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  </a:t>
            </a: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detección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de </a:t>
            </a:r>
            <a:r>
              <a:rPr lang="es-MX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imágenes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171450" indent="-171450">
              <a:lnSpc>
                <a:spcPts val="2244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Recall&gt;0.7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Detecta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cas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i </a:t>
            </a: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   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todos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los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productos</a:t>
            </a:r>
            <a:endParaRPr lang="en-US" sz="1600">
              <a:solidFill>
                <a:srgbClr val="191919"/>
              </a:solidFill>
              <a:latin typeface="Montserrat"/>
            </a:endParaRPr>
          </a:p>
          <a:p>
            <a:pPr marL="171450" indent="-171450">
              <a:lnSpc>
                <a:spcPts val="2244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F1 &gt;0.8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muy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buen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   balance   entre precision </a:t>
            </a:r>
            <a:endParaRPr lang="en-US" sz="1600">
              <a:solidFill>
                <a:srgbClr val="000000"/>
              </a:solidFill>
              <a:latin typeface="Montserrat"/>
            </a:endParaRP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   y recall</a:t>
            </a:r>
            <a:endParaRPr lang="en-US" sz="1600">
              <a:latin typeface="Montserrat"/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BC58CCD9-586F-2102-C6FF-F0BF288E44B2}"/>
              </a:ext>
            </a:extLst>
          </p:cNvPr>
          <p:cNvSpPr/>
          <p:nvPr/>
        </p:nvSpPr>
        <p:spPr>
          <a:xfrm>
            <a:off x="10045095" y="2172886"/>
            <a:ext cx="2378273" cy="85501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mAP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&gt;0.8 </a:t>
            </a: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muy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</a:t>
            </a:r>
            <a:endParaRPr lang="en-US"/>
          </a:p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correcta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 </a:t>
            </a: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localización</a:t>
            </a:r>
            <a:endParaRPr lang="en-US" sz="1600" err="1">
              <a:solidFill>
                <a:srgbClr val="000000"/>
              </a:solidFill>
              <a:latin typeface="Montserrat" pitchFamily="34" charset="-122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del bounding box</a:t>
            </a:r>
            <a:endParaRPr lang="en-US" sz="1600">
              <a:latin typeface="Montserrat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20EAB62-89B1-EADA-E2AB-E5B1D2D3D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41" y="1746996"/>
            <a:ext cx="7215741" cy="481419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Text 5">
            <a:extLst>
              <a:ext uri="{FF2B5EF4-FFF2-40B4-BE49-F238E27FC236}">
                <a16:creationId xmlns:a16="http://schemas.microsoft.com/office/drawing/2014/main" id="{377B1A46-B4BF-A5BF-FBAB-E5E22C0CD4A7}"/>
              </a:ext>
            </a:extLst>
          </p:cNvPr>
          <p:cNvSpPr/>
          <p:nvPr/>
        </p:nvSpPr>
        <p:spPr>
          <a:xfrm>
            <a:off x="173214" y="4936412"/>
            <a:ext cx="2378273" cy="85501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Hay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una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subida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constante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</a:p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</a:rPr>
              <a:t>que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indica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que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el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modelo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</a:p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</a:rPr>
              <a:t>esta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aprendiendo</a:t>
            </a:r>
            <a:endParaRPr lang="en-US" sz="1600">
              <a:solidFill>
                <a:srgbClr val="191919"/>
              </a:solidFill>
              <a:latin typeface="Montserrat"/>
            </a:endParaRPr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1266B0DA-5567-B9C6-6F32-16BA3855E327}"/>
              </a:ext>
            </a:extLst>
          </p:cNvPr>
          <p:cNvSpPr/>
          <p:nvPr/>
        </p:nvSpPr>
        <p:spPr>
          <a:xfrm>
            <a:off x="10036369" y="4932582"/>
            <a:ext cx="2378273" cy="85501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Ambas curvas </a:t>
            </a: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bajan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</a:t>
            </a:r>
            <a:endParaRPr lang="en-US"/>
          </a:p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600">
                <a:solidFill>
                  <a:srgbClr val="19191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indica 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que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es un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244"/>
              </a:lnSpc>
            </a:pPr>
            <a:r>
              <a:rPr lang="en-US" sz="1600" err="1">
                <a:solidFill>
                  <a:srgbClr val="191919"/>
                </a:solidFill>
                <a:latin typeface="Montserrat"/>
              </a:rPr>
              <a:t>buen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entrenamiento</a:t>
            </a:r>
            <a:r>
              <a:rPr lang="en-US" sz="1600">
                <a:solidFill>
                  <a:srgbClr val="191919"/>
                </a:solidFill>
                <a:latin typeface="Montserra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244"/>
              </a:lnSpc>
            </a:pPr>
            <a:r>
              <a:rPr lang="en-US" sz="1600">
                <a:solidFill>
                  <a:srgbClr val="191919"/>
                </a:solidFill>
                <a:latin typeface="Montserrat"/>
              </a:rPr>
              <a:t>y no hay </a:t>
            </a:r>
            <a:r>
              <a:rPr lang="en-US" sz="1600" err="1">
                <a:solidFill>
                  <a:srgbClr val="191919"/>
                </a:solidFill>
                <a:latin typeface="Montserrat"/>
              </a:rPr>
              <a:t>overfiting</a:t>
            </a:r>
            <a:endParaRPr lang="en-US" sz="1600">
              <a:latin typeface="Montserrat"/>
            </a:endParaRP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65E25A61-965D-4BD3-70D7-86A7EA499DF0}"/>
              </a:ext>
            </a:extLst>
          </p:cNvPr>
          <p:cNvSpPr/>
          <p:nvPr/>
        </p:nvSpPr>
        <p:spPr>
          <a:xfrm>
            <a:off x="1061916" y="1578913"/>
            <a:ext cx="491194" cy="462280"/>
          </a:xfrm>
          <a:prstGeom prst="flowChartConnec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C9B9D5C-AAB4-257D-22A3-FB3C90C267D9}"/>
              </a:ext>
            </a:extLst>
          </p:cNvPr>
          <p:cNvSpPr/>
          <p:nvPr/>
        </p:nvSpPr>
        <p:spPr>
          <a:xfrm>
            <a:off x="10729079" y="1570009"/>
            <a:ext cx="491194" cy="462280"/>
          </a:xfrm>
          <a:prstGeom prst="flowChartConnec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5B43611E-43D3-CB33-03A9-1648FEA2CA04}"/>
              </a:ext>
            </a:extLst>
          </p:cNvPr>
          <p:cNvSpPr/>
          <p:nvPr/>
        </p:nvSpPr>
        <p:spPr>
          <a:xfrm>
            <a:off x="1061915" y="4334569"/>
            <a:ext cx="491194" cy="462280"/>
          </a:xfrm>
          <a:prstGeom prst="flowChartConnec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7E52EFA8-FA9C-D6DC-82CC-898206DC361A}"/>
              </a:ext>
            </a:extLst>
          </p:cNvPr>
          <p:cNvSpPr/>
          <p:nvPr/>
        </p:nvSpPr>
        <p:spPr>
          <a:xfrm>
            <a:off x="10743439" y="4332054"/>
            <a:ext cx="491194" cy="462280"/>
          </a:xfrm>
          <a:prstGeom prst="flowChartConnec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4404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3FE4A-B56F-F175-B786-B3E3A757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6BD5FF28-B4EB-54CD-C570-AA1913F44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13382"/>
            <a:ext cx="11430000" cy="8382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1B17A9C9-E81D-C410-5448-33996B7F17A8}"/>
              </a:ext>
            </a:extLst>
          </p:cNvPr>
          <p:cNvSpPr/>
          <p:nvPr/>
        </p:nvSpPr>
        <p:spPr>
          <a:xfrm>
            <a:off x="408776" y="624053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s-MX" sz="4000" b="1" noProof="0">
                <a:solidFill>
                  <a:srgbClr val="162046"/>
                </a:solidFill>
                <a:ea typeface="+mn-lt"/>
                <a:cs typeface="+mn-lt"/>
              </a:rPr>
              <a:t>YOLO Training</a:t>
            </a:r>
            <a:endParaRPr lang="es-MX" noProof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7EF33A4-4A60-33BC-F7FA-B29AF1A1BD67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B5AB6C7B-69FE-0455-A92E-D31FBA1331B9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3F753FF0-35B3-729F-8FC1-3B08CC8B4DB8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95DCEF1E-28B1-6F46-EE1B-9EFF72713DC9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FDC08E17-806E-660C-48A5-5E70909FBFAC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F9C71303-0E6B-3376-8981-6AF4D179DA59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742073E1-8AE1-EA84-D595-62CC02240F91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17980110-2866-A1EA-CC67-EDE3F721BAB6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19F5E9C7-14F8-E9F1-5C26-86EC6E853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43" y="1916193"/>
            <a:ext cx="4312142" cy="377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CAA7A179-C61C-11EF-31ED-7A4852949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85" y="1635347"/>
            <a:ext cx="3012847" cy="45035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312384E-C6BA-0341-817E-1C5B5CF10C5F}"/>
              </a:ext>
            </a:extLst>
          </p:cNvPr>
          <p:cNvSpPr/>
          <p:nvPr/>
        </p:nvSpPr>
        <p:spPr>
          <a:xfrm>
            <a:off x="411477" y="1393334"/>
            <a:ext cx="5760720" cy="3626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s-MX" sz="2100" b="1" noProof="0">
                <a:solidFill>
                  <a:srgbClr val="494949"/>
                </a:solidFill>
                <a:latin typeface="Montserrat"/>
              </a:rPr>
              <a:t>Resultados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98024-C800-3DE3-4F9C-5E0F0FA97A8B}"/>
              </a:ext>
            </a:extLst>
          </p:cNvPr>
          <p:cNvSpPr txBox="1"/>
          <p:nvPr/>
        </p:nvSpPr>
        <p:spPr>
          <a:xfrm>
            <a:off x="9587552" y="2065452"/>
            <a:ext cx="23999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noProof="0">
                <a:ea typeface="Calibri"/>
                <a:cs typeface="Calibri"/>
              </a:rPr>
              <a:t>Conteo Real: 	</a:t>
            </a:r>
            <a:r>
              <a:rPr lang="es-MX" b="1" noProof="0">
                <a:ea typeface="Calibri"/>
                <a:cs typeface="Calibri"/>
              </a:rPr>
              <a:t>95</a:t>
            </a:r>
          </a:p>
          <a:p>
            <a:endParaRPr lang="es-MX">
              <a:ea typeface="Calibri"/>
              <a:cs typeface="Calibri"/>
            </a:endParaRPr>
          </a:p>
          <a:p>
            <a:r>
              <a:rPr lang="es-MX" noProof="0">
                <a:ea typeface="Calibri"/>
                <a:cs typeface="Calibri"/>
              </a:rPr>
              <a:t>Conteo del 	</a:t>
            </a:r>
            <a:r>
              <a:rPr lang="es-MX" b="1" noProof="0">
                <a:ea typeface="Calibri"/>
                <a:cs typeface="Calibri"/>
              </a:rPr>
              <a:t>61</a:t>
            </a:r>
          </a:p>
          <a:p>
            <a:r>
              <a:rPr lang="es-MX" noProof="0">
                <a:ea typeface="Calibri"/>
                <a:cs typeface="Calibri"/>
              </a:rPr>
              <a:t>Modelo:  </a:t>
            </a:r>
            <a:endParaRPr lang="es-MX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20EC1-82FD-BEF1-A4D3-D1F302D6162A}"/>
              </a:ext>
            </a:extLst>
          </p:cNvPr>
          <p:cNvSpPr txBox="1"/>
          <p:nvPr/>
        </p:nvSpPr>
        <p:spPr>
          <a:xfrm>
            <a:off x="4570717" y="2065452"/>
            <a:ext cx="23999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noProof="0">
                <a:ea typeface="Calibri"/>
                <a:cs typeface="Calibri"/>
              </a:rPr>
              <a:t>Conteo Real:      </a:t>
            </a:r>
            <a:r>
              <a:rPr lang="es-MX" b="1" noProof="0">
                <a:ea typeface="Calibri"/>
                <a:cs typeface="Calibri"/>
              </a:rPr>
              <a:t>308</a:t>
            </a:r>
          </a:p>
          <a:p>
            <a:endParaRPr lang="es-MX">
              <a:ea typeface="Calibri"/>
              <a:cs typeface="Calibri"/>
            </a:endParaRPr>
          </a:p>
          <a:p>
            <a:r>
              <a:rPr lang="es-MX" noProof="0">
                <a:ea typeface="Calibri"/>
                <a:cs typeface="Calibri"/>
              </a:rPr>
              <a:t>Conteo del         </a:t>
            </a:r>
            <a:r>
              <a:rPr lang="es-MX" b="1" noProof="0">
                <a:ea typeface="Calibri"/>
                <a:cs typeface="Calibri"/>
              </a:rPr>
              <a:t>144</a:t>
            </a:r>
          </a:p>
          <a:p>
            <a:r>
              <a:rPr lang="es-MX" noProof="0">
                <a:ea typeface="Calibri"/>
                <a:cs typeface="Calibri"/>
              </a:rPr>
              <a:t>Modelo:  </a:t>
            </a:r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54588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B910-2B26-073A-82CB-A8E2C69D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7808403-CF03-45B3-DE88-401E56B87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13382"/>
            <a:ext cx="11430000" cy="8382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E42CF61A-F530-D8FA-A402-08CA3C47EF24}"/>
              </a:ext>
            </a:extLst>
          </p:cNvPr>
          <p:cNvSpPr/>
          <p:nvPr/>
        </p:nvSpPr>
        <p:spPr>
          <a:xfrm>
            <a:off x="408776" y="624053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s-MX" sz="4000" b="1" noProof="0">
                <a:solidFill>
                  <a:srgbClr val="162046"/>
                </a:solidFill>
                <a:ea typeface="+mn-lt"/>
                <a:cs typeface="+mn-lt"/>
              </a:rPr>
              <a:t>Grounding DINO</a:t>
            </a:r>
            <a:endParaRPr lang="es-MX" noProof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C149A246-B3CF-4A62-11B8-4032C438CC1E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A82F070B-FAE3-B9CF-9418-0DAE714AF0F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8D33AFB6-F8BB-7909-EA22-7A264FD492F9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B16A0D98-5F38-9689-7729-E0BE2544FA31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B964BF86-7289-063E-5391-40D845B5FC91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138318D5-AF01-A18F-01EA-774D923C402B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03A3EE74-9C20-244E-88EF-45A64CE1CEFD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1F0AF29B-F3BB-0A01-F032-9397FD57663B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C0349-8A52-622C-9F4B-8A9114F5C1A7}"/>
              </a:ext>
            </a:extLst>
          </p:cNvPr>
          <p:cNvSpPr txBox="1"/>
          <p:nvPr/>
        </p:nvSpPr>
        <p:spPr>
          <a:xfrm>
            <a:off x="340890" y="1509387"/>
            <a:ext cx="4370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Detección basada en lenguaje y contexto</a:t>
            </a:r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64CB2-7676-A146-55C2-281397B3CB97}"/>
              </a:ext>
            </a:extLst>
          </p:cNvPr>
          <p:cNvSpPr txBox="1"/>
          <p:nvPr/>
        </p:nvSpPr>
        <p:spPr>
          <a:xfrm>
            <a:off x="479039" y="2316319"/>
            <a:ext cx="5181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🔹Contenido</a:t>
            </a:r>
            <a:endParaRPr lang="es-ES"/>
          </a:p>
          <a:p>
            <a:r>
              <a:rPr lang="es-ES"/>
              <a:t>Detección de objetos guiada por texto (</a:t>
            </a:r>
            <a:r>
              <a:rPr lang="es-ES" err="1"/>
              <a:t>prompt</a:t>
            </a:r>
            <a:r>
              <a:rPr lang="es-ES"/>
              <a:t>)</a:t>
            </a:r>
          </a:p>
          <a:p>
            <a:r>
              <a:rPr lang="es-ES"/>
              <a:t>Basado en arquitectura </a:t>
            </a:r>
            <a:r>
              <a:rPr lang="es-ES" err="1"/>
              <a:t>Transformer</a:t>
            </a:r>
            <a:endParaRPr lang="es-ES"/>
          </a:p>
          <a:p>
            <a:r>
              <a:rPr lang="es-ES"/>
              <a:t>Capacidad de detección open-set (sin clases fijas)</a:t>
            </a:r>
          </a:p>
          <a:p>
            <a:r>
              <a:rPr lang="es-ES"/>
              <a:t>Mejor manejo de oclusión y escenas densas</a:t>
            </a:r>
          </a:p>
          <a:p>
            <a:r>
              <a:rPr lang="es-ES"/>
              <a:t>Integración de información visual + semántica</a:t>
            </a:r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73EB1-0F9F-475F-BB4D-1D90EFBB8966}"/>
              </a:ext>
            </a:extLst>
          </p:cNvPr>
          <p:cNvSpPr txBox="1"/>
          <p:nvPr/>
        </p:nvSpPr>
        <p:spPr>
          <a:xfrm>
            <a:off x="6095999" y="2316319"/>
            <a:ext cx="5424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🔹 Ejemplo de uso en el proyecto:</a:t>
            </a:r>
            <a:endParaRPr lang="es-ES"/>
          </a:p>
          <a:p>
            <a:r>
              <a:rPr lang="es-ES" err="1"/>
              <a:t>Prompt</a:t>
            </a:r>
            <a:r>
              <a:rPr lang="es-ES"/>
              <a:t>: </a:t>
            </a:r>
            <a:r>
              <a:rPr lang="es-ES" i="1"/>
              <a:t>“latas”, “botellas”</a:t>
            </a:r>
            <a:endParaRPr lang="es-ES"/>
          </a:p>
          <a:p>
            <a:r>
              <a:rPr lang="es-ES"/>
              <a:t>Identificación de múltiples instancias en anaquel</a:t>
            </a:r>
          </a:p>
          <a:p>
            <a:r>
              <a:rPr lang="es-ES"/>
              <a:t>Detección más estable en comparación con contornos</a:t>
            </a:r>
          </a:p>
          <a:p>
            <a:r>
              <a:rPr lang="es-ES"/>
              <a:t>Mejor localización de objetos parcialmente visibles</a:t>
            </a:r>
          </a:p>
          <a:p>
            <a:endParaRPr lang="es-MX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0E01B-0896-0828-D89A-F2E86B9071FA}"/>
              </a:ext>
            </a:extLst>
          </p:cNvPr>
          <p:cNvSpPr txBox="1"/>
          <p:nvPr/>
        </p:nvSpPr>
        <p:spPr>
          <a:xfrm>
            <a:off x="479039" y="4506512"/>
            <a:ext cx="50999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🔹 Resultados observados</a:t>
            </a:r>
          </a:p>
          <a:p>
            <a:r>
              <a:rPr lang="es-ES"/>
              <a:t>Mejor detección en escenas complejas</a:t>
            </a:r>
          </a:p>
          <a:p>
            <a:r>
              <a:rPr lang="es-ES"/>
              <a:t>Mayor estabilidad en comparación con YOLO</a:t>
            </a:r>
          </a:p>
          <a:p>
            <a:r>
              <a:rPr lang="es-ES"/>
              <a:t>Reducción de falsos positivos</a:t>
            </a:r>
          </a:p>
          <a:p>
            <a:r>
              <a:rPr lang="es-ES"/>
              <a:t>Mejor identificación de objetos parcialmente visibles</a:t>
            </a:r>
          </a:p>
          <a:p>
            <a:endParaRPr lang="es-MX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5105F-5FB1-87DC-7C44-21B14DE5FACD}"/>
              </a:ext>
            </a:extLst>
          </p:cNvPr>
          <p:cNvSpPr txBox="1"/>
          <p:nvPr/>
        </p:nvSpPr>
        <p:spPr>
          <a:xfrm>
            <a:off x="6095999" y="4506512"/>
            <a:ext cx="5809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/>
              <a:t>🔹 Problemas detectados</a:t>
            </a:r>
          </a:p>
          <a:p>
            <a:r>
              <a:rPr lang="es-ES"/>
              <a:t>Alto costo computacional</a:t>
            </a:r>
          </a:p>
          <a:p>
            <a:r>
              <a:rPr lang="es-ES"/>
              <a:t>Latencia mayor (no ideal para tiempo real)</a:t>
            </a:r>
          </a:p>
          <a:p>
            <a:r>
              <a:rPr lang="es-ES"/>
              <a:t>Detecciones múltiples en objetos cercanos (aún presente)</a:t>
            </a:r>
          </a:p>
          <a:p>
            <a:r>
              <a:rPr lang="es-ES"/>
              <a:t>No resuelve completamente el problema de conteo</a:t>
            </a:r>
          </a:p>
          <a:p>
            <a:endParaRPr lang="es-MX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6FBDF4-CFAF-5C4F-6BAC-4099FE2DC135}"/>
              </a:ext>
            </a:extLst>
          </p:cNvPr>
          <p:cNvCxnSpPr/>
          <p:nvPr/>
        </p:nvCxnSpPr>
        <p:spPr>
          <a:xfrm>
            <a:off x="5806909" y="2300137"/>
            <a:ext cx="0" cy="373445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40695A-D49F-A0A5-9EA8-97EABD8324B6}"/>
              </a:ext>
            </a:extLst>
          </p:cNvPr>
          <p:cNvCxnSpPr/>
          <p:nvPr/>
        </p:nvCxnSpPr>
        <p:spPr>
          <a:xfrm>
            <a:off x="1847654" y="4185501"/>
            <a:ext cx="753201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37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230B-DC2F-424E-3B6D-35F129DA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30E4972-9ECB-05FE-21B6-63DE5C95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13382"/>
            <a:ext cx="11430000" cy="8382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694D04D3-FED9-8ACC-A152-21E6EF06C23C}"/>
              </a:ext>
            </a:extLst>
          </p:cNvPr>
          <p:cNvSpPr/>
          <p:nvPr/>
        </p:nvSpPr>
        <p:spPr>
          <a:xfrm>
            <a:off x="408776" y="624053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s-MX" sz="4000" b="1" noProof="0">
                <a:solidFill>
                  <a:srgbClr val="162046"/>
                </a:solidFill>
                <a:ea typeface="+mn-lt"/>
                <a:cs typeface="+mn-lt"/>
              </a:rPr>
              <a:t>Grounding DINO</a:t>
            </a:r>
            <a:endParaRPr lang="es-MX" noProof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4D881C9-834B-09F5-5165-6BDA2D4B9827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D0EC850-9F22-F886-9F15-BB2C9260D49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28966349-6395-E898-34D1-2D8A4B22463E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8E46C803-A621-8C58-A031-5A53F2991726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2AA5BB22-F37A-21BB-D393-C5297B0AB982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255C5F06-34F5-2479-FB96-7A164645E00A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48EC8E4D-0510-BE52-E485-693B9CD35E47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CC46AFD3-B5AA-65FF-9334-AF706A40E2E4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68C72-80B8-D1CC-2B9C-A998268F80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33" y="1974464"/>
            <a:ext cx="4012102" cy="34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0FE866-9A83-903B-12A2-9B331466A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20" y="1441696"/>
            <a:ext cx="3423147" cy="5134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B9F9C-9ADD-68BA-FF69-DA67638F8C6D}"/>
              </a:ext>
            </a:extLst>
          </p:cNvPr>
          <p:cNvSpPr txBox="1"/>
          <p:nvPr/>
        </p:nvSpPr>
        <p:spPr>
          <a:xfrm>
            <a:off x="9974052" y="2150292"/>
            <a:ext cx="18660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noProof="0">
                <a:ea typeface="Calibri"/>
                <a:cs typeface="Calibri"/>
              </a:rPr>
              <a:t>Conteo Real:    </a:t>
            </a:r>
            <a:r>
              <a:rPr lang="es-MX" b="1" noProof="0">
                <a:ea typeface="Calibri"/>
                <a:cs typeface="Calibri"/>
              </a:rPr>
              <a:t>95</a:t>
            </a:r>
          </a:p>
          <a:p>
            <a:endParaRPr lang="es-MX">
              <a:ea typeface="Calibri"/>
              <a:cs typeface="Calibri"/>
            </a:endParaRPr>
          </a:p>
          <a:p>
            <a:r>
              <a:rPr lang="es-MX" noProof="0">
                <a:ea typeface="Calibri"/>
                <a:cs typeface="Calibri"/>
              </a:rPr>
              <a:t>Conteo del       </a:t>
            </a:r>
            <a:r>
              <a:rPr lang="es-MX" b="1" noProof="0">
                <a:ea typeface="Calibri"/>
                <a:cs typeface="Calibri"/>
              </a:rPr>
              <a:t>80</a:t>
            </a:r>
          </a:p>
          <a:p>
            <a:r>
              <a:rPr lang="es-MX" noProof="0">
                <a:ea typeface="Calibri"/>
                <a:cs typeface="Calibri"/>
              </a:rPr>
              <a:t>Modelo:  </a:t>
            </a:r>
            <a:endParaRPr lang="es-MX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BD74B-5794-477D-29DA-B930E4892104}"/>
              </a:ext>
            </a:extLst>
          </p:cNvPr>
          <p:cNvSpPr txBox="1"/>
          <p:nvPr/>
        </p:nvSpPr>
        <p:spPr>
          <a:xfrm>
            <a:off x="4504912" y="2150292"/>
            <a:ext cx="18660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noProof="0">
                <a:ea typeface="Calibri"/>
                <a:cs typeface="Calibri"/>
              </a:rPr>
              <a:t>Conteo Real:  </a:t>
            </a:r>
            <a:r>
              <a:rPr lang="es-MX" b="1" noProof="0">
                <a:ea typeface="Calibri"/>
                <a:cs typeface="Calibri"/>
              </a:rPr>
              <a:t>308</a:t>
            </a:r>
          </a:p>
          <a:p>
            <a:endParaRPr lang="es-MX">
              <a:ea typeface="Calibri"/>
              <a:cs typeface="Calibri"/>
            </a:endParaRPr>
          </a:p>
          <a:p>
            <a:r>
              <a:rPr lang="es-MX" noProof="0">
                <a:ea typeface="Calibri"/>
                <a:cs typeface="Calibri"/>
              </a:rPr>
              <a:t>Conteo del      </a:t>
            </a:r>
            <a:r>
              <a:rPr lang="es-MX" b="1" noProof="0">
                <a:ea typeface="Calibri"/>
                <a:cs typeface="Calibri"/>
              </a:rPr>
              <a:t>236</a:t>
            </a:r>
          </a:p>
          <a:p>
            <a:r>
              <a:rPr lang="es-MX" noProof="0">
                <a:ea typeface="Calibri"/>
                <a:cs typeface="Calibri"/>
              </a:rPr>
              <a:t>Modelo:  </a:t>
            </a:r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00657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redondeado 54">
            <a:extLst>
              <a:ext uri="{FF2B5EF4-FFF2-40B4-BE49-F238E27FC236}">
                <a16:creationId xmlns:a16="http://schemas.microsoft.com/office/drawing/2014/main" id="{4D4D2BB4-772C-3F10-BF60-FCD11A220783}"/>
              </a:ext>
            </a:extLst>
          </p:cNvPr>
          <p:cNvSpPr/>
          <p:nvPr/>
        </p:nvSpPr>
        <p:spPr>
          <a:xfrm>
            <a:off x="331532" y="5507273"/>
            <a:ext cx="11460418" cy="1061801"/>
          </a:xfrm>
          <a:prstGeom prst="roundRect">
            <a:avLst/>
          </a:prstGeom>
          <a:solidFill>
            <a:srgbClr val="678097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noProof="0"/>
          </a:p>
        </p:txBody>
      </p:sp>
      <p:sp>
        <p:nvSpPr>
          <p:cNvPr id="54" name="Rectángulo redondeado 53">
            <a:extLst>
              <a:ext uri="{FF2B5EF4-FFF2-40B4-BE49-F238E27FC236}">
                <a16:creationId xmlns:a16="http://schemas.microsoft.com/office/drawing/2014/main" id="{1CDEA7E4-4F98-5503-CFA0-C6C8168EA943}"/>
              </a:ext>
            </a:extLst>
          </p:cNvPr>
          <p:cNvSpPr/>
          <p:nvPr/>
        </p:nvSpPr>
        <p:spPr>
          <a:xfrm>
            <a:off x="6248400" y="4543426"/>
            <a:ext cx="5459668" cy="832005"/>
          </a:xfrm>
          <a:prstGeom prst="roundRect">
            <a:avLst/>
          </a:prstGeom>
          <a:solidFill>
            <a:srgbClr val="AFD8D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noProof="0"/>
          </a:p>
        </p:txBody>
      </p:sp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60D3A93B-DE58-AC36-5C12-967B62490229}"/>
              </a:ext>
            </a:extLst>
          </p:cNvPr>
          <p:cNvSpPr/>
          <p:nvPr/>
        </p:nvSpPr>
        <p:spPr>
          <a:xfrm>
            <a:off x="408776" y="4547237"/>
            <a:ext cx="5459668" cy="832005"/>
          </a:xfrm>
          <a:prstGeom prst="roundRect">
            <a:avLst/>
          </a:prstGeom>
          <a:solidFill>
            <a:srgbClr val="AFD8D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noProof="0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13382"/>
            <a:ext cx="114300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47800"/>
            <a:ext cx="5562600" cy="2781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76400"/>
            <a:ext cx="5334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526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447925"/>
            <a:ext cx="95250" cy="95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790825"/>
            <a:ext cx="95250" cy="95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133725"/>
            <a:ext cx="95250" cy="95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76625"/>
            <a:ext cx="95250" cy="95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819525"/>
            <a:ext cx="95250" cy="95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447800"/>
            <a:ext cx="5562600" cy="2781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76400"/>
            <a:ext cx="5334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17526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447925"/>
            <a:ext cx="95250" cy="95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790825"/>
            <a:ext cx="95250" cy="95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133725"/>
            <a:ext cx="95250" cy="95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476625"/>
            <a:ext cx="95250" cy="95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819525"/>
            <a:ext cx="95250" cy="952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08776" y="548637"/>
            <a:ext cx="11430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s-MX" sz="2700" b="1" noProof="0">
                <a:solidFill>
                  <a:srgbClr val="1E3A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YOLO vs Grounding DINO: Detección vs Contexto</a:t>
            </a:r>
            <a:endParaRPr lang="es-MX" sz="2700" noProof="0"/>
          </a:p>
        </p:txBody>
      </p:sp>
      <p:sp>
        <p:nvSpPr>
          <p:cNvPr id="27" name="Text 1"/>
          <p:cNvSpPr/>
          <p:nvPr/>
        </p:nvSpPr>
        <p:spPr>
          <a:xfrm>
            <a:off x="1295400" y="17907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s-MX" sz="1800" b="1" noProof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YOLO</a:t>
            </a:r>
            <a:endParaRPr lang="es-MX" sz="1800" noProof="0"/>
          </a:p>
        </p:txBody>
      </p:sp>
      <p:sp>
        <p:nvSpPr>
          <p:cNvPr id="28" name="Text 2"/>
          <p:cNvSpPr/>
          <p:nvPr/>
        </p:nvSpPr>
        <p:spPr>
          <a:xfrm>
            <a:off x="819150" y="23622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Detección rápida</a:t>
            </a:r>
            <a:endParaRPr lang="es-MX" sz="1350" noProof="0"/>
          </a:p>
        </p:txBody>
      </p:sp>
      <p:sp>
        <p:nvSpPr>
          <p:cNvPr id="29" name="Text 3"/>
          <p:cNvSpPr/>
          <p:nvPr/>
        </p:nvSpPr>
        <p:spPr>
          <a:xfrm>
            <a:off x="819150" y="27051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convolucional optimizada para detección</a:t>
            </a:r>
            <a:endParaRPr lang="es-MX" sz="1350" noProof="0"/>
          </a:p>
        </p:txBody>
      </p:sp>
      <p:sp>
        <p:nvSpPr>
          <p:cNvPr id="30" name="Text 4"/>
          <p:cNvSpPr/>
          <p:nvPr/>
        </p:nvSpPr>
        <p:spPr>
          <a:xfrm>
            <a:off x="819150" y="3048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Optimizado para tiempo real</a:t>
            </a:r>
            <a:endParaRPr lang="es-MX" sz="1350" noProof="0"/>
          </a:p>
        </p:txBody>
      </p:sp>
      <p:sp>
        <p:nvSpPr>
          <p:cNvPr id="31" name="Text 5"/>
          <p:cNvSpPr/>
          <p:nvPr/>
        </p:nvSpPr>
        <p:spPr>
          <a:xfrm>
            <a:off x="819150" y="33909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Sensible a oclusión</a:t>
            </a:r>
            <a:endParaRPr lang="es-MX" sz="1350" noProof="0"/>
          </a:p>
        </p:txBody>
      </p:sp>
      <p:sp>
        <p:nvSpPr>
          <p:cNvPr id="32" name="Text 6"/>
          <p:cNvSpPr/>
          <p:nvPr/>
        </p:nvSpPr>
        <p:spPr>
          <a:xfrm>
            <a:off x="819150" y="3733800"/>
            <a:ext cx="6995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Enfoque en características locales</a:t>
            </a:r>
            <a:endParaRPr lang="es-MX" sz="1350" noProof="0"/>
          </a:p>
        </p:txBody>
      </p:sp>
      <p:sp>
        <p:nvSpPr>
          <p:cNvPr id="33" name="Text 7"/>
          <p:cNvSpPr/>
          <p:nvPr/>
        </p:nvSpPr>
        <p:spPr>
          <a:xfrm>
            <a:off x="7162800" y="17907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s-MX" b="1" noProof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</a:rPr>
              <a:t>Grounding</a:t>
            </a:r>
            <a:r>
              <a:rPr lang="es-MX" sz="1800" b="1" noProof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DINO</a:t>
            </a:r>
            <a:endParaRPr lang="es-MX" sz="1800" noProof="0"/>
          </a:p>
        </p:txBody>
      </p:sp>
      <p:sp>
        <p:nvSpPr>
          <p:cNvPr id="34" name="Text 8"/>
          <p:cNvSpPr/>
          <p:nvPr/>
        </p:nvSpPr>
        <p:spPr>
          <a:xfrm>
            <a:off x="6686550" y="23622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ES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 desempeño en escenas complejas</a:t>
            </a:r>
            <a:endParaRPr lang="es-MX" sz="1350" noProof="0"/>
          </a:p>
        </p:txBody>
      </p:sp>
      <p:sp>
        <p:nvSpPr>
          <p:cNvPr id="35" name="Text 9"/>
          <p:cNvSpPr/>
          <p:nvPr/>
        </p:nvSpPr>
        <p:spPr>
          <a:xfrm>
            <a:off x="6686550" y="27051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ES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basada en Transformers con integración texto-imagen</a:t>
            </a:r>
            <a:endParaRPr lang="es-MX" sz="1350" noProof="0"/>
          </a:p>
        </p:txBody>
      </p:sp>
      <p:sp>
        <p:nvSpPr>
          <p:cNvPr id="36" name="Text 10"/>
          <p:cNvSpPr/>
          <p:nvPr/>
        </p:nvSpPr>
        <p:spPr>
          <a:xfrm>
            <a:off x="6686550" y="30480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Alto costo computacional</a:t>
            </a:r>
            <a:endParaRPr lang="es-MX" sz="1350" noProof="0"/>
          </a:p>
        </p:txBody>
      </p:sp>
      <p:sp>
        <p:nvSpPr>
          <p:cNvPr id="37" name="Text 11"/>
          <p:cNvSpPr/>
          <p:nvPr/>
        </p:nvSpPr>
        <p:spPr>
          <a:xfrm>
            <a:off x="6686550" y="33909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 manejo de oclusión</a:t>
            </a:r>
            <a:endParaRPr lang="es-MX" sz="1350" noProof="0"/>
          </a:p>
        </p:txBody>
      </p:sp>
      <p:sp>
        <p:nvSpPr>
          <p:cNvPr id="38" name="Text 12"/>
          <p:cNvSpPr/>
          <p:nvPr/>
        </p:nvSpPr>
        <p:spPr>
          <a:xfrm>
            <a:off x="6686550" y="37338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s-MX" sz="135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Comprensión de contexto global</a:t>
            </a:r>
            <a:endParaRPr lang="es-MX" sz="1350" noProof="0"/>
          </a:p>
        </p:txBody>
      </p:sp>
      <p:sp>
        <p:nvSpPr>
          <p:cNvPr id="39" name="Text 13"/>
          <p:cNvSpPr/>
          <p:nvPr/>
        </p:nvSpPr>
        <p:spPr>
          <a:xfrm>
            <a:off x="533400" y="46101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s-MX" sz="1350" b="1" noProof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Resultados YOLO:</a:t>
            </a:r>
            <a:endParaRPr lang="es-MX" sz="1350" noProof="0"/>
          </a:p>
        </p:txBody>
      </p:sp>
      <p:sp>
        <p:nvSpPr>
          <p:cNvPr id="40" name="Text 14"/>
          <p:cNvSpPr/>
          <p:nvPr/>
        </p:nvSpPr>
        <p:spPr>
          <a:xfrm>
            <a:off x="533400" y="4801776"/>
            <a:ext cx="533504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MX" sz="120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Buen desempeño general pero con detecciones duplicadas en alta densidad.</a:t>
            </a:r>
            <a:endParaRPr lang="es-MX" sz="1200" noProof="0"/>
          </a:p>
        </p:txBody>
      </p:sp>
      <p:sp>
        <p:nvSpPr>
          <p:cNvPr id="41" name="Text 15"/>
          <p:cNvSpPr/>
          <p:nvPr/>
        </p:nvSpPr>
        <p:spPr>
          <a:xfrm>
            <a:off x="6400800" y="46101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s-MX" sz="1350" b="1" noProof="0">
                <a:solidFill>
                  <a:srgbClr val="854D0E"/>
                </a:solidFill>
                <a:latin typeface="ui-sans-serif"/>
                <a:ea typeface="ui-sans-serif" pitchFamily="34" charset="-122"/>
                <a:cs typeface="ui-sans-serif" pitchFamily="34" charset="-120"/>
              </a:rPr>
              <a:t>Resultados Grounding DINO:</a:t>
            </a:r>
            <a:endParaRPr lang="es-MX" sz="1350" b="1" noProof="0">
              <a:solidFill>
                <a:srgbClr val="854D0E"/>
              </a:solidFill>
              <a:latin typeface="ui-sans-serif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6400800" y="4914900"/>
            <a:ext cx="53072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MX" sz="1200" noProof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 detección en escenas complejas y mayor estabilidad.</a:t>
            </a:r>
            <a:endParaRPr lang="es-MX" sz="1200" noProof="0"/>
          </a:p>
        </p:txBody>
      </p:sp>
      <p:sp>
        <p:nvSpPr>
          <p:cNvPr id="43" name="Text 17"/>
          <p:cNvSpPr/>
          <p:nvPr/>
        </p:nvSpPr>
        <p:spPr>
          <a:xfrm>
            <a:off x="331532" y="5811402"/>
            <a:ext cx="1147946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s-MX" sz="1800" b="1" i="1" kern="0" spc="36" noProof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"YOLO detecta rápido, Grounding DINO entiende mejor el contexto"</a:t>
            </a:r>
            <a:endParaRPr lang="es-MX" sz="1800" noProof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7604987F-E6BE-924A-DCC7-18DA155E15D2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57D07637-1C3E-0B2F-1F1B-CEB4832E360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E6111D87-9181-AE59-BF3B-6E56829646F5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08C04CC3-C768-422F-AB25-EE3C79B6AE26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D861ADF2-ED0F-CF7F-7998-4DCFBFB952CA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0" name="Paralelogramo 49">
                <a:extLst>
                  <a:ext uri="{FF2B5EF4-FFF2-40B4-BE49-F238E27FC236}">
                    <a16:creationId xmlns:a16="http://schemas.microsoft.com/office/drawing/2014/main" id="{7DAB82F1-1AD2-8A3E-814E-386BBC351F23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F80A83C7-0635-D27C-CD85-A2A3F0DACB07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52" name="Cuadro de texto 3">
            <a:extLst>
              <a:ext uri="{FF2B5EF4-FFF2-40B4-BE49-F238E27FC236}">
                <a16:creationId xmlns:a16="http://schemas.microsoft.com/office/drawing/2014/main" id="{991441F2-D6D4-8299-2BD0-F753989D31EC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94" y="4683919"/>
            <a:ext cx="4364682" cy="21533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313066" y="666750"/>
            <a:ext cx="15579090" cy="59992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724"/>
              </a:lnSpc>
              <a:buNone/>
            </a:pPr>
            <a:r>
              <a:rPr lang="es-MX" sz="3525" b="1" noProof="0">
                <a:solidFill>
                  <a:srgbClr val="0B1A41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Conclusiones y Trabajo Futuro</a:t>
            </a:r>
            <a:endParaRPr lang="es-MX" sz="3525" noProof="0"/>
          </a:p>
        </p:txBody>
      </p:sp>
      <p:sp>
        <p:nvSpPr>
          <p:cNvPr id="5" name="Text 1"/>
          <p:cNvSpPr/>
          <p:nvPr/>
        </p:nvSpPr>
        <p:spPr>
          <a:xfrm>
            <a:off x="895350" y="1685925"/>
            <a:ext cx="3977640" cy="3314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10"/>
              </a:lnSpc>
              <a:buNone/>
            </a:pPr>
            <a:r>
              <a:rPr lang="es-MX" sz="2175" b="1" noProof="0">
                <a:solidFill>
                  <a:srgbClr val="4A7C89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Conclusiones</a:t>
            </a:r>
            <a:endParaRPr lang="es-MX" sz="2175" noProof="0"/>
          </a:p>
        </p:txBody>
      </p:sp>
      <p:sp>
        <p:nvSpPr>
          <p:cNvPr id="6" name="Text 2"/>
          <p:cNvSpPr/>
          <p:nvPr/>
        </p:nvSpPr>
        <p:spPr>
          <a:xfrm>
            <a:off x="6324600" y="1685925"/>
            <a:ext cx="4640580" cy="3314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10"/>
              </a:lnSpc>
              <a:buNone/>
            </a:pPr>
            <a:r>
              <a:rPr lang="es-MX" sz="2175" b="1" noProof="0">
                <a:solidFill>
                  <a:srgbClr val="4A7C89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Trabajo Futuro</a:t>
            </a:r>
            <a:endParaRPr lang="es-MX" sz="2175" noProof="0"/>
          </a:p>
        </p:txBody>
      </p:sp>
      <p:sp>
        <p:nvSpPr>
          <p:cNvPr id="7" name="Text 3"/>
          <p:cNvSpPr/>
          <p:nvPr/>
        </p:nvSpPr>
        <p:spPr>
          <a:xfrm>
            <a:off x="1019175" y="2181225"/>
            <a:ext cx="5374928" cy="8862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7"/>
              </a:lnSpc>
              <a:buNone/>
            </a:pPr>
            <a:r>
              <a:rPr lang="es-MX" sz="1650" noProof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Los métodos clásicos de visión
computacional presentan limitaciones
significativas en entornos de retail complejos</a:t>
            </a:r>
            <a:endParaRPr lang="es-MX" sz="1650" noProof="0"/>
          </a:p>
        </p:txBody>
      </p:sp>
      <p:sp>
        <p:nvSpPr>
          <p:cNvPr id="8" name="Text 4"/>
          <p:cNvSpPr/>
          <p:nvPr/>
        </p:nvSpPr>
        <p:spPr>
          <a:xfrm>
            <a:off x="1019175" y="3276600"/>
            <a:ext cx="5395913" cy="8862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7"/>
              </a:lnSpc>
              <a:buNone/>
            </a:pPr>
            <a:r>
              <a:rPr lang="es-MX" sz="1650" noProof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Mayor sensibilidad en detección no se
traduce automáticamente en mayor precisión
de conteo</a:t>
            </a:r>
            <a:endParaRPr lang="es-MX" sz="1650" noProof="0"/>
          </a:p>
        </p:txBody>
      </p:sp>
      <p:sp>
        <p:nvSpPr>
          <p:cNvPr id="9" name="Text 5"/>
          <p:cNvSpPr/>
          <p:nvPr/>
        </p:nvSpPr>
        <p:spPr>
          <a:xfrm>
            <a:off x="1019175" y="4371975"/>
            <a:ext cx="5322540" cy="8460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21"/>
              </a:lnSpc>
              <a:buNone/>
            </a:pPr>
            <a:r>
              <a:rPr lang="es-MX" sz="1575" noProof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Se requiere un enfoque híbrido que equilibre
sensibilidad y precisión para
aplicaciones reales</a:t>
            </a:r>
            <a:endParaRPr lang="es-MX" sz="1575" noProof="0"/>
          </a:p>
        </p:txBody>
      </p:sp>
      <p:sp>
        <p:nvSpPr>
          <p:cNvPr id="12" name="Text 8"/>
          <p:cNvSpPr/>
          <p:nvPr/>
        </p:nvSpPr>
        <p:spPr>
          <a:xfrm>
            <a:off x="6276975" y="2181225"/>
            <a:ext cx="5406330" cy="564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21"/>
              </a:lnSpc>
              <a:buNone/>
            </a:pPr>
            <a:r>
              <a:rPr lang="es-MX" sz="1575" noProof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Evaluar modelos avanzados de segmentación
de instancias para mayor precisión</a:t>
            </a:r>
            <a:endParaRPr lang="es-MX" sz="1575" noProof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0131D98-50D6-36A7-3873-EC5608946114}"/>
              </a:ext>
            </a:extLst>
          </p:cNvPr>
          <p:cNvGrpSpPr/>
          <p:nvPr/>
        </p:nvGrpSpPr>
        <p:grpSpPr>
          <a:xfrm>
            <a:off x="-1" y="0"/>
            <a:ext cx="12322630" cy="727520"/>
            <a:chOff x="703525" y="2152231"/>
            <a:chExt cx="10523975" cy="940772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40C3BA3-F7AD-6A71-6159-6015DC419562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MX" sz="1100" noProof="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16A01FC6-9FEF-4013-7D7C-EA6D8C2AA50E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40772"/>
              <a:chOff x="703525" y="2152450"/>
              <a:chExt cx="10412414" cy="1580333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EECC036-BDD5-F8AA-9A53-69E04F80C205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EEF11BB3-A226-EA59-4D85-38F2A26534F0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8" name="Paralelogramo 17">
                <a:extLst>
                  <a:ext uri="{FF2B5EF4-FFF2-40B4-BE49-F238E27FC236}">
                    <a16:creationId xmlns:a16="http://schemas.microsoft.com/office/drawing/2014/main" id="{DFC59ACB-3CA1-848B-EB41-9F526502D975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MX" sz="1100" noProof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413264D9-459C-3EEC-612A-8D93E46F2700}"/>
                  </a:ext>
                </a:extLst>
              </p:cNvPr>
              <p:cNvSpPr/>
              <p:nvPr/>
            </p:nvSpPr>
            <p:spPr>
              <a:xfrm>
                <a:off x="3681324" y="2395395"/>
                <a:ext cx="7260000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b="1" noProof="0">
                    <a:solidFill>
                      <a:schemeClr val="bg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Conteo Automatizado de Productos en Anaqueles</a:t>
                </a:r>
                <a:endParaRPr lang="es-MX" sz="1100" noProof="0">
                  <a:solidFill>
                    <a:schemeClr val="bg1"/>
                  </a:solidFill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20" name="Cuadro de texto 3">
            <a:extLst>
              <a:ext uri="{FF2B5EF4-FFF2-40B4-BE49-F238E27FC236}">
                <a16:creationId xmlns:a16="http://schemas.microsoft.com/office/drawing/2014/main" id="{03E832A5-9343-0461-1B22-96308C60EE37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2200" noProof="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 noProof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Sistema de Visión Computacional para el
Conteo Automatizado de Productos en Anaqueles de Retail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2026-03-17T07:18:49Z</dcterms:created>
  <dcterms:modified xsi:type="dcterms:W3CDTF">2026-03-25T16:22:16Z</dcterms:modified>
</cp:coreProperties>
</file>