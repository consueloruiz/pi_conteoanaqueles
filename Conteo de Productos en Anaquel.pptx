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64" r:id="rId2"/>
    <p:sldId id="261" r:id="rId3"/>
    <p:sldId id="262" r:id="rId4"/>
    <p:sldId id="259" r:id="rId5"/>
    <p:sldId id="263" r:id="rId6"/>
    <p:sldId id="265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77737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1BDD662-6F4D-E013-F49C-E869C81FE6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0617" y="430538"/>
            <a:ext cx="3125833" cy="836405"/>
          </a:xfrm>
          <a:prstGeom prst="rect">
            <a:avLst/>
          </a:prstGeom>
        </p:spPr>
      </p:pic>
      <p:sp>
        <p:nvSpPr>
          <p:cNvPr id="3" name="TextBox 7">
            <a:extLst>
              <a:ext uri="{FF2B5EF4-FFF2-40B4-BE49-F238E27FC236}">
                <a16:creationId xmlns:a16="http://schemas.microsoft.com/office/drawing/2014/main" id="{A6F7ABC0-5138-0BBF-3D56-50B63FA3B39E}"/>
              </a:ext>
            </a:extLst>
          </p:cNvPr>
          <p:cNvSpPr txBox="1"/>
          <p:nvPr/>
        </p:nvSpPr>
        <p:spPr>
          <a:xfrm>
            <a:off x="2197735" y="1398068"/>
            <a:ext cx="4615180" cy="9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algn="ctr">
              <a:lnSpc>
                <a:spcPct val="115000"/>
              </a:lnSpc>
              <a:spcAft>
                <a:spcPts val="2000"/>
              </a:spcAft>
              <a:buNone/>
            </a:pPr>
            <a:r>
              <a:rPr lang="es-MX" sz="2400" kern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Instituto Tecnológico y de Estudios</a:t>
            </a:r>
            <a:br>
              <a:rPr lang="es-MX" sz="2400" kern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</a:br>
            <a:r>
              <a:rPr lang="es-MX" sz="2400" kern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Superiores de Monterrey</a:t>
            </a:r>
            <a:endParaRPr lang="en-US" sz="2400" dirty="0">
              <a:effectLst/>
              <a:latin typeface="Times New Roman" panose="020206030504050203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7336AA53-01DD-C494-9577-2113487E2A46}"/>
              </a:ext>
            </a:extLst>
          </p:cNvPr>
          <p:cNvSpPr txBox="1"/>
          <p:nvPr/>
        </p:nvSpPr>
        <p:spPr>
          <a:xfrm>
            <a:off x="3847465" y="4187190"/>
            <a:ext cx="5076190" cy="7641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algn="r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600" kern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Proyecto </a:t>
            </a:r>
            <a:r>
              <a:rPr lang="en-US" sz="1600" kern="12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Integrador</a:t>
            </a:r>
            <a:endParaRPr lang="en-US" sz="1200" dirty="0">
              <a:effectLst/>
              <a:latin typeface="Times New Roman" panose="020206030504050203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  <a:p>
            <a:pPr marL="0" marR="0" algn="r">
              <a:lnSpc>
                <a:spcPct val="115000"/>
              </a:lnSpc>
              <a:spcAft>
                <a:spcPts val="1000"/>
              </a:spcAft>
              <a:buNone/>
            </a:pPr>
            <a:r>
              <a:rPr lang="es-ES" sz="1600" kern="12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MS Mincho" panose="02020609040205080304" pitchFamily="49" charset="-128"/>
                <a:cs typeface="Times New Roman" panose="02020603050405020304" pitchFamily="18" charset="0"/>
              </a:rPr>
              <a:t>08 de marzo del 2026</a:t>
            </a:r>
            <a:endParaRPr lang="en-US" sz="1200" dirty="0">
              <a:effectLst/>
              <a:latin typeface="Times New Roman" panose="020206030504050203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DA263BD-23FC-537E-0612-613D61D82475}"/>
              </a:ext>
            </a:extLst>
          </p:cNvPr>
          <p:cNvSpPr>
            <a:spLocks noGrp="1"/>
          </p:cNvSpPr>
          <p:nvPr/>
        </p:nvSpPr>
        <p:spPr>
          <a:xfrm>
            <a:off x="720090" y="2677587"/>
            <a:ext cx="7570470" cy="1838216"/>
          </a:xfrm>
          <a:prstGeom prst="rect">
            <a:avLst/>
          </a:prstGeom>
        </p:spPr>
        <p:txBody>
          <a:bodyPr vert="horz" wrap="square" lIns="91440" tIns="45720" rIns="91440" bIns="45720" rtlCol="0" anchor="b">
            <a:normAutofit fontScale="92500" lnSpcReduction="20000"/>
          </a:bodyPr>
          <a:lstStyle/>
          <a:p>
            <a:pPr algn="ctr">
              <a:lnSpc>
                <a:spcPct val="90000"/>
              </a:lnSpc>
              <a:spcAft>
                <a:spcPts val="1800"/>
              </a:spcAft>
            </a:pP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MS Gothic" panose="020B0609070205080204" pitchFamily="49" charset="-128"/>
                <a:cs typeface="Times New Roman" panose="02020603050405020304" pitchFamily="18" charset="0"/>
              </a:rPr>
              <a:t>Arturo Guevara Rosas A01796089</a:t>
            </a:r>
          </a:p>
          <a:p>
            <a:pPr algn="ctr">
              <a:lnSpc>
                <a:spcPct val="90000"/>
              </a:lnSpc>
              <a:spcAft>
                <a:spcPts val="1800"/>
              </a:spcAft>
            </a:pPr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  <a:ea typeface="MS Gothic" panose="020B0609070205080204" pitchFamily="49" charset="-128"/>
                <a:cs typeface="Times New Roman" panose="02020603050405020304" pitchFamily="18" charset="0"/>
              </a:rPr>
              <a:t>Edgar Mendoza Martinez A01796049</a:t>
            </a:r>
          </a:p>
          <a:p>
            <a:pPr algn="ctr">
              <a:lnSpc>
                <a:spcPct val="90000"/>
              </a:lnSpc>
              <a:spcAft>
                <a:spcPts val="1800"/>
              </a:spcAft>
            </a:pPr>
            <a:r>
              <a:rPr lang="es-MX" dirty="0">
                <a:solidFill>
                  <a:srgbClr val="000000"/>
                </a:solidFill>
                <a:latin typeface="Calibri" panose="020F0502020204030204" pitchFamily="34" charset="0"/>
                <a:ea typeface="MS Gothic" panose="020B0609070205080204" pitchFamily="49" charset="-128"/>
                <a:cs typeface="Times New Roman" panose="02020603050405020304" pitchFamily="18" charset="0"/>
              </a:rPr>
              <a:t>Maria del Consuelo Ruiz Martinez  </a:t>
            </a:r>
            <a:r>
              <a:rPr lang="es-ES" dirty="0">
                <a:solidFill>
                  <a:srgbClr val="000000"/>
                </a:solidFill>
                <a:latin typeface="Calibri" panose="020F0502020204030204" pitchFamily="34" charset="0"/>
                <a:ea typeface="MS Gothic" panose="020B0609070205080204" pitchFamily="49" charset="-128"/>
                <a:cs typeface="Times New Roman" panose="02020603050405020304" pitchFamily="18" charset="0"/>
              </a:rPr>
              <a:t>A01795993</a:t>
            </a:r>
            <a:endParaRPr lang="en-US" dirty="0">
              <a:solidFill>
                <a:srgbClr val="000000"/>
              </a:solidFill>
              <a:latin typeface="Calibri" panose="020F0502020204030204" pitchFamily="34" charset="0"/>
              <a:ea typeface="MS Gothic" panose="020B0609070205080204" pitchFamily="49" charset="-128"/>
              <a:cs typeface="Times New Roman" panose="02020603050405020304" pitchFamily="18" charset="0"/>
            </a:endParaRPr>
          </a:p>
          <a:p>
            <a:pPr marL="0" marR="0" algn="ctr">
              <a:lnSpc>
                <a:spcPct val="90000"/>
              </a:lnSpc>
              <a:spcAft>
                <a:spcPts val="1800"/>
              </a:spcAft>
              <a:buNone/>
            </a:pPr>
            <a:br>
              <a:rPr lang="es-ES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MS Gothic" panose="020B0609070205080204" pitchFamily="49" charset="-128"/>
                <a:cs typeface="Times New Roman" panose="02020603050405020304" pitchFamily="18" charset="0"/>
              </a:rPr>
            </a:br>
            <a:br>
              <a:rPr lang="es-ES" sz="1800" kern="12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MS Gothic" panose="020B0609070205080204" pitchFamily="49" charset="-128"/>
                <a:cs typeface="Times New Roman" panose="02020603050405020304" pitchFamily="18" charset="0"/>
              </a:rPr>
            </a:br>
            <a:endParaRPr lang="en-US" sz="1200" dirty="0">
              <a:effectLst/>
              <a:latin typeface="Times New Roman" panose="02020603050405020304" pitchFamily="18" charset="0"/>
              <a:ea typeface="MS Mincho" panose="02020609040205080304" pitchFamily="49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19398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67D28E3-D70D-C881-EBED-C7C5C9ED87F1}"/>
              </a:ext>
            </a:extLst>
          </p:cNvPr>
          <p:cNvSpPr txBox="1"/>
          <p:nvPr/>
        </p:nvSpPr>
        <p:spPr>
          <a:xfrm>
            <a:off x="344774" y="799781"/>
            <a:ext cx="8252085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b="1" dirty="0"/>
              <a:t>¿Por qué contar productos en anaqueles es difícil?</a:t>
            </a:r>
          </a:p>
          <a:p>
            <a:endParaRPr lang="es-ES" dirty="0"/>
          </a:p>
          <a:p>
            <a:r>
              <a:rPr lang="es-ES" dirty="0"/>
              <a:t>En tiendas reales, contar productos manualmente es lento, costoso y propenso a errores.</a:t>
            </a:r>
          </a:p>
          <a:p>
            <a:r>
              <a:rPr lang="es-ES" dirty="0"/>
              <a:t>Las imágenes de anaqueles presentan varios retos: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1600" dirty="0"/>
              <a:t>Múltiples </a:t>
            </a:r>
            <a:r>
              <a:rPr lang="es-ES" sz="1600" b="1" dirty="0"/>
              <a:t>niveles (</a:t>
            </a:r>
            <a:r>
              <a:rPr lang="es-ES" sz="1600" b="1" dirty="0" err="1"/>
              <a:t>shelves</a:t>
            </a:r>
            <a:r>
              <a:rPr lang="es-ES" sz="1600" b="1" dirty="0"/>
              <a:t>)</a:t>
            </a:r>
            <a:r>
              <a:rPr lang="es-ES" sz="1600" dirty="0"/>
              <a:t> en una sola imagen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1600" dirty="0"/>
              <a:t>Productos </a:t>
            </a:r>
            <a:r>
              <a:rPr lang="es-ES" sz="1600" b="1" dirty="0"/>
              <a:t>muy similares entre sí</a:t>
            </a:r>
            <a:r>
              <a:rPr lang="es-ES" sz="1600" dirty="0"/>
              <a:t> (latas vs botellas)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1600" dirty="0"/>
              <a:t>Diferentes profundidades (filas al fondo que no siempre se ven completas)Condiciones variables: iluminación, color, blanco y negro</a:t>
            </a:r>
          </a:p>
          <a:p>
            <a:endParaRPr lang="es-ES" dirty="0"/>
          </a:p>
          <a:p>
            <a:r>
              <a:rPr lang="es-ES" dirty="0"/>
              <a:t>     La mayoría de las soluciones se enfocan solo en detección con redes neuronales, pero eso </a:t>
            </a:r>
            <a:r>
              <a:rPr lang="es-ES" b="1" dirty="0"/>
              <a:t>no es suficiente</a:t>
            </a:r>
            <a:r>
              <a:rPr lang="es-ES" dirty="0"/>
              <a:t> para un conteo confiable en escenarios reales.</a:t>
            </a:r>
          </a:p>
          <a:p>
            <a:endParaRPr lang="es-ES" dirty="0"/>
          </a:p>
          <a:p>
            <a:r>
              <a:rPr lang="es-ES" dirty="0"/>
              <a:t>     </a:t>
            </a:r>
            <a:r>
              <a:rPr lang="es-ES" b="1" dirty="0"/>
              <a:t>Nuestra meta</a:t>
            </a:r>
            <a:r>
              <a:rPr lang="es-ES" dirty="0"/>
              <a:t>: automatizar el conteo sin depender de reglas frágiles ni ajustes manuales por imagen.</a:t>
            </a:r>
            <a:endParaRPr lang="es-MX" dirty="0"/>
          </a:p>
        </p:txBody>
      </p:sp>
      <p:sp>
        <p:nvSpPr>
          <p:cNvPr id="5" name="Shape 0">
            <a:extLst>
              <a:ext uri="{FF2B5EF4-FFF2-40B4-BE49-F238E27FC236}">
                <a16:creationId xmlns:a16="http://schemas.microsoft.com/office/drawing/2014/main" id="{F925C3F5-3C50-D4FF-25D9-55EFFC3A10D9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02060"/>
          </a:solidFill>
          <a:ln w="12700">
            <a:noFill/>
            <a:prstDash val="solid"/>
          </a:ln>
        </p:spPr>
        <p:txBody>
          <a:bodyPr/>
          <a:lstStyle/>
          <a:p>
            <a:r>
              <a:rPr lang="es-ES" sz="2800" dirty="0">
                <a:solidFill>
                  <a:schemeClr val="bg1"/>
                </a:solidFill>
              </a:rPr>
              <a:t>El problema que queremos resolver</a:t>
            </a:r>
            <a:endParaRPr lang="es-MX" sz="2800" dirty="0">
              <a:solidFill>
                <a:schemeClr val="bg1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526A593-3065-8745-7158-9046CB84DA21}"/>
              </a:ext>
            </a:extLst>
          </p:cNvPr>
          <p:cNvCxnSpPr/>
          <p:nvPr/>
        </p:nvCxnSpPr>
        <p:spPr>
          <a:xfrm>
            <a:off x="290941" y="4305992"/>
            <a:ext cx="0" cy="615521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3173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C268A-3051-1FF4-18E0-2425C9126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2449FEF-C4DE-164A-5F5E-EE36FD537871}"/>
              </a:ext>
            </a:extLst>
          </p:cNvPr>
          <p:cNvSpPr txBox="1"/>
          <p:nvPr/>
        </p:nvSpPr>
        <p:spPr>
          <a:xfrm>
            <a:off x="344774" y="804672"/>
            <a:ext cx="8252085" cy="38549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/>
              <a:t>Una combinación de visión clásica + </a:t>
            </a:r>
            <a:r>
              <a:rPr lang="es-ES" b="1" dirty="0" err="1"/>
              <a:t>deep</a:t>
            </a:r>
            <a:r>
              <a:rPr lang="es-ES" b="1" dirty="0"/>
              <a:t> </a:t>
            </a:r>
            <a:r>
              <a:rPr lang="es-ES" b="1" dirty="0" err="1"/>
              <a:t>learning</a:t>
            </a:r>
            <a:endParaRPr lang="es-ES" b="1" dirty="0"/>
          </a:p>
          <a:p>
            <a:r>
              <a:rPr lang="es-ES" dirty="0"/>
              <a:t>En lugar de usar un solo modelo, el sistema </a:t>
            </a:r>
            <a:r>
              <a:rPr lang="es-ES" b="1" dirty="0"/>
              <a:t>imita cómo una persona analiza un anaquel</a:t>
            </a:r>
            <a:r>
              <a:rPr lang="es-ES" dirty="0"/>
              <a:t>:</a:t>
            </a:r>
          </a:p>
          <a:p>
            <a:r>
              <a:rPr lang="es-ES" b="1" dirty="0"/>
              <a:t>Primero entiende la estructura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Detecta cuántos niveles tiene el anaquel y dónde empieza y termina cada uno.</a:t>
            </a:r>
          </a:p>
          <a:p>
            <a:r>
              <a:rPr lang="es-ES" b="1" dirty="0"/>
              <a:t>Luego separa los productos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Usa gradientes y contornos para identificar objetos individuales dentro de cada nivel.</a:t>
            </a:r>
          </a:p>
          <a:p>
            <a:r>
              <a:rPr lang="es-ES" b="1" dirty="0"/>
              <a:t>Finalmente valida con 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YOLOv8 actúa como una segunda opinión para confirmar detecciones.</a:t>
            </a:r>
          </a:p>
          <a:p>
            <a:endParaRPr lang="es-ES" sz="1050" dirty="0"/>
          </a:p>
          <a:p>
            <a:r>
              <a:rPr lang="es-ES" dirty="0"/>
              <a:t>Todas estas señales se combinan en una sola decisión final, evitando depender de una única técnica.</a:t>
            </a:r>
          </a:p>
          <a:p>
            <a:r>
              <a:rPr lang="es-ES" dirty="0"/>
              <a:t>Esto hace que el sistema sea más robusto ante cambios de iluminación, color o marca.</a:t>
            </a:r>
            <a:endParaRPr lang="es-MX" dirty="0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D4E8EA81-7442-CC04-FDEB-DFDE502BD0F2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02060"/>
          </a:solidFill>
          <a:ln w="12700">
            <a:noFill/>
            <a:prstDash val="solid"/>
          </a:ln>
        </p:spPr>
        <p:txBody>
          <a:bodyPr/>
          <a:lstStyle/>
          <a:p>
            <a:r>
              <a:rPr lang="es-ES" sz="2800" dirty="0">
                <a:solidFill>
                  <a:schemeClr val="bg1"/>
                </a:solidFill>
              </a:rPr>
              <a:t>Cómo piensa el sistema (en palabras simples)</a:t>
            </a:r>
            <a:endParaRPr lang="es-MX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33393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0206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r>
              <a:rPr lang="es-MX" sz="2800" dirty="0">
                <a:solidFill>
                  <a:schemeClr val="bg1"/>
                </a:solidFill>
              </a:rPr>
              <a:t>Resultados — Pruebas Realizadas</a:t>
            </a:r>
          </a:p>
        </p:txBody>
      </p:sp>
      <p:sp>
        <p:nvSpPr>
          <p:cNvPr id="4" name="Shape 2"/>
          <p:cNvSpPr/>
          <p:nvPr/>
        </p:nvSpPr>
        <p:spPr>
          <a:xfrm>
            <a:off x="182880" y="777240"/>
            <a:ext cx="4206240" cy="4114800"/>
          </a:xfrm>
          <a:prstGeom prst="rect">
            <a:avLst/>
          </a:prstGeom>
          <a:noFill/>
          <a:ln w="1905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5" name="Text 3"/>
          <p:cNvSpPr/>
          <p:nvPr/>
        </p:nvSpPr>
        <p:spPr>
          <a:xfrm>
            <a:off x="320040" y="8229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 1 — Walmart Coca-Cola</a:t>
            </a:r>
            <a:endParaRPr lang="en-US" sz="1150" dirty="0"/>
          </a:p>
        </p:txBody>
      </p:sp>
      <p:pic>
        <p:nvPicPr>
          <p:cNvPr id="6" name="Image 0" descr="/home/claude/slide_v4.png"/>
          <p:cNvPicPr>
            <a:picLocks noChangeAspect="1"/>
          </p:cNvPicPr>
          <p:nvPr/>
        </p:nvPicPr>
        <p:blipFill>
          <a:blip r:embed="rId3"/>
          <a:srcRect t="3077"/>
          <a:stretch>
            <a:fillRect/>
          </a:stretch>
        </p:blipFill>
        <p:spPr>
          <a:xfrm>
            <a:off x="274320" y="1280160"/>
            <a:ext cx="4023360" cy="23042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20040" y="363931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/>
              <a:t>4 niveles detectados  ·  </a:t>
            </a:r>
            <a:r>
              <a:rPr lang="en-US" sz="1000" dirty="0"/>
              <a:t>75 vis / ~106 total</a:t>
            </a:r>
          </a:p>
        </p:txBody>
      </p:sp>
      <p:sp>
        <p:nvSpPr>
          <p:cNvPr id="8" name="Text 5"/>
          <p:cNvSpPr/>
          <p:nvPr/>
        </p:nvSpPr>
        <p:spPr>
          <a:xfrm>
            <a:off x="320040" y="393192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✅ Shelf 1: </a:t>
            </a: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Botellas (azul)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✅ Shelf 2: </a:t>
            </a: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Cajas (naranja)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⚠️ Shelf 3: </a:t>
            </a: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Latas + botellas mezcladas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✅ Shelf 4: </a:t>
            </a: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Cajas (naranja)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754880" y="777240"/>
            <a:ext cx="4206240" cy="4114800"/>
          </a:xfrm>
          <a:prstGeom prst="rect">
            <a:avLst/>
          </a:prstGeom>
          <a:noFill/>
          <a:ln w="19050">
            <a:solidFill>
              <a:srgbClr val="22D3EE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MX"/>
          </a:p>
        </p:txBody>
      </p:sp>
      <p:sp>
        <p:nvSpPr>
          <p:cNvPr id="10" name="Text 7"/>
          <p:cNvSpPr/>
          <p:nvPr/>
        </p:nvSpPr>
        <p:spPr>
          <a:xfrm>
            <a:off x="4892040" y="8229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 2 — Kombucha B&amp;N</a:t>
            </a:r>
            <a:endParaRPr lang="en-US" sz="1150" dirty="0"/>
          </a:p>
        </p:txBody>
      </p:sp>
      <p:pic>
        <p:nvPicPr>
          <p:cNvPr id="11" name="Image 1" descr="/home/claude/slide_v5.png"/>
          <p:cNvPicPr>
            <a:picLocks noChangeAspect="1"/>
          </p:cNvPicPr>
          <p:nvPr/>
        </p:nvPicPr>
        <p:blipFill>
          <a:blip r:embed="rId4"/>
          <a:srcRect t="3077"/>
          <a:stretch>
            <a:fillRect/>
          </a:stretch>
        </p:blipFill>
        <p:spPr>
          <a:xfrm>
            <a:off x="4846320" y="1280160"/>
            <a:ext cx="4023360" cy="230428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892040" y="363931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/>
              <a:t>2 niveles detectados  ·  </a:t>
            </a:r>
            <a:r>
              <a:rPr lang="en-US" sz="1000" dirty="0"/>
              <a:t>57 vis / ~123 total</a:t>
            </a:r>
          </a:p>
        </p:txBody>
      </p:sp>
      <p:sp>
        <p:nvSpPr>
          <p:cNvPr id="13" name="Text 9"/>
          <p:cNvSpPr/>
          <p:nvPr/>
        </p:nvSpPr>
        <p:spPr>
          <a:xfrm>
            <a:off x="4892040" y="393192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✅ B&amp;N detectado automáticamente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⚠️ Shelf 1: </a:t>
            </a: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Latas y botellas mezcladas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⚠️ Shelf 2: </a:t>
            </a: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Latas y </a:t>
            </a:r>
            <a:r>
              <a:rPr lang="en-US" sz="10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botellas</a:t>
            </a: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mezcladas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8678B-0834-F852-C4AF-68F7B5676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4941AD5-A7BB-3D41-F473-31BB8B86983D}"/>
              </a:ext>
            </a:extLst>
          </p:cNvPr>
          <p:cNvSpPr txBox="1"/>
          <p:nvPr/>
        </p:nvSpPr>
        <p:spPr>
          <a:xfrm>
            <a:off x="344774" y="1005442"/>
            <a:ext cx="825208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/>
              <a:t>Resultados</a:t>
            </a:r>
            <a:r>
              <a:rPr lang="es-E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El sistema detecta niveles automáticamente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Cuenta productos visibles y </a:t>
            </a:r>
            <a:r>
              <a:rPr lang="es-ES" b="1" dirty="0"/>
              <a:t>estima el total considerando profundidad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Funciona tanto en imágenes a </a:t>
            </a:r>
            <a:r>
              <a:rPr lang="es-ES" b="1" dirty="0"/>
              <a:t>color como en blanco y negro</a:t>
            </a:r>
          </a:p>
          <a:p>
            <a:r>
              <a:rPr lang="es-ES" b="1" dirty="0"/>
              <a:t>Lo aprendido</a:t>
            </a:r>
            <a:r>
              <a:rPr lang="es-E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La geometría funciona bien para el conteo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La clasificación lata/botella necesita más información visual</a:t>
            </a:r>
          </a:p>
          <a:p>
            <a:r>
              <a:rPr lang="es-ES" b="1" dirty="0"/>
              <a:t>Siguiente paso natural: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Probar con profundidad métrica en lugar de heurística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Pasar de “contar objetos” a mapear posiciones exactas en el anaquel</a:t>
            </a:r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4EEA2BCE-B868-2669-C277-BB62445E838B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02060"/>
          </a:solidFill>
          <a:ln w="12700">
            <a:noFill/>
            <a:prstDash val="solid"/>
          </a:ln>
        </p:spPr>
        <p:txBody>
          <a:bodyPr/>
          <a:lstStyle/>
          <a:p>
            <a:r>
              <a:rPr lang="es-ES" sz="2800" dirty="0">
                <a:solidFill>
                  <a:schemeClr val="bg1"/>
                </a:solidFill>
              </a:rPr>
              <a:t>Qué logramos y qué sigue</a:t>
            </a:r>
            <a:endParaRPr lang="es-MX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72551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D7406-D105-5A5F-C3A6-4FE8F5885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41C917B-E992-7168-A251-DF2C9D791C99}"/>
              </a:ext>
            </a:extLst>
          </p:cNvPr>
          <p:cNvSpPr txBox="1"/>
          <p:nvPr/>
        </p:nvSpPr>
        <p:spPr>
          <a:xfrm>
            <a:off x="344774" y="1005442"/>
            <a:ext cx="8252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https://github.com/ConsueloRuiz/PI_ConteoAnaqueles</a:t>
            </a:r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7D6C2118-3B16-E789-B7D6-747F4E9C5BC5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02060"/>
          </a:solidFill>
          <a:ln w="12700">
            <a:noFill/>
            <a:prstDash val="solid"/>
          </a:ln>
        </p:spPr>
        <p:txBody>
          <a:bodyPr/>
          <a:lstStyle/>
          <a:p>
            <a:r>
              <a:rPr lang="es-ES" sz="2800" dirty="0" err="1">
                <a:solidFill>
                  <a:schemeClr val="bg1"/>
                </a:solidFill>
              </a:rPr>
              <a:t>Github</a:t>
            </a:r>
            <a:endParaRPr lang="es-MX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62597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457</Words>
  <Application>Microsoft Office PowerPoint</Application>
  <PresentationFormat>On-screen Show (16:9)</PresentationFormat>
  <Paragraphs>57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Shelf Product Counter — Resumen del Proyecto</dc:title>
  <dc:subject>PptxGenJS Presentation</dc:subject>
  <dc:creator>PptxGenJS</dc:creator>
  <cp:lastModifiedBy>Consuelo Ruiz</cp:lastModifiedBy>
  <cp:revision>5</cp:revision>
  <dcterms:created xsi:type="dcterms:W3CDTF">2026-03-09T00:15:44Z</dcterms:created>
  <dcterms:modified xsi:type="dcterms:W3CDTF">2026-03-09T03:47:43Z</dcterms:modified>
</cp:coreProperties>
</file>