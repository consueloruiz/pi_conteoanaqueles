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4" r:id="rId2"/>
    <p:sldId id="261" r:id="rId3"/>
    <p:sldId id="262" r:id="rId4"/>
    <p:sldId id="259" r:id="rId5"/>
    <p:sldId id="263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773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1BDD662-6F4D-E013-F49C-E869C81FE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617" y="430538"/>
            <a:ext cx="3125833" cy="836405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A6F7ABC0-5138-0BBF-3D56-50B63FA3B39E}"/>
              </a:ext>
            </a:extLst>
          </p:cNvPr>
          <p:cNvSpPr txBox="1"/>
          <p:nvPr/>
        </p:nvSpPr>
        <p:spPr>
          <a:xfrm>
            <a:off x="2197735" y="1398068"/>
            <a:ext cx="4615180" cy="9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2000"/>
              </a:spcAft>
              <a:buNone/>
            </a:pPr>
            <a:r>
              <a:rPr lang="es-MX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Instituto Tecnológico y de Estudios</a:t>
            </a:r>
            <a:br>
              <a:rPr lang="es-MX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s-MX" sz="24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Superiores de Monterrey</a:t>
            </a:r>
            <a:endParaRPr lang="en-US" sz="24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7336AA53-01DD-C494-9577-2113487E2A46}"/>
              </a:ext>
            </a:extLst>
          </p:cNvPr>
          <p:cNvSpPr txBox="1"/>
          <p:nvPr/>
        </p:nvSpPr>
        <p:spPr>
          <a:xfrm>
            <a:off x="3847465" y="4187190"/>
            <a:ext cx="5076190" cy="764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Proyecto </a:t>
            </a:r>
            <a:r>
              <a:rPr lang="en-US" sz="1600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Integrador</a:t>
            </a:r>
            <a:endParaRPr lang="en-US" sz="12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r">
              <a:lnSpc>
                <a:spcPct val="115000"/>
              </a:lnSpc>
              <a:spcAft>
                <a:spcPts val="1000"/>
              </a:spcAft>
              <a:buNone/>
            </a:pPr>
            <a:r>
              <a:rPr lang="es-ES" sz="16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08 de marzo del 2026</a:t>
            </a:r>
            <a:endParaRPr lang="en-US" sz="12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A263BD-23FC-537E-0612-613D61D82475}"/>
              </a:ext>
            </a:extLst>
          </p:cNvPr>
          <p:cNvSpPr>
            <a:spLocks noGrp="1"/>
          </p:cNvSpPr>
          <p:nvPr/>
        </p:nvSpPr>
        <p:spPr>
          <a:xfrm>
            <a:off x="720090" y="2677587"/>
            <a:ext cx="7570470" cy="183821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 fontScale="92500" lnSpcReduction="20000"/>
          </a:bodyPr>
          <a:lstStyle/>
          <a:p>
            <a:pPr algn="ctr">
              <a:lnSpc>
                <a:spcPct val="90000"/>
              </a:lnSpc>
              <a:spcAft>
                <a:spcPts val="1800"/>
              </a:spcAft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Arturo Guevara Rosas A01796089</a:t>
            </a:r>
          </a:p>
          <a:p>
            <a:pPr algn="ctr">
              <a:lnSpc>
                <a:spcPct val="90000"/>
              </a:lnSpc>
              <a:spcAft>
                <a:spcPts val="1800"/>
              </a:spcAft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Edgar Mendoza Martinez A01796049</a:t>
            </a:r>
          </a:p>
          <a:p>
            <a:pPr algn="ctr">
              <a:lnSpc>
                <a:spcPct val="90000"/>
              </a:lnSpc>
              <a:spcAft>
                <a:spcPts val="1800"/>
              </a:spcAft>
            </a:pPr>
            <a:r>
              <a:rPr lang="es-MX" dirty="0">
                <a:solidFill>
                  <a:srgbClr val="000000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Maria del Consuelo Ruiz Martinez  </a:t>
            </a: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A01795993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 algn="ctr">
              <a:lnSpc>
                <a:spcPct val="90000"/>
              </a:lnSpc>
              <a:spcAft>
                <a:spcPts val="1800"/>
              </a:spcAft>
              <a:buNone/>
            </a:pPr>
            <a:br>
              <a:rPr lang="es-E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</a:br>
            <a:br>
              <a:rPr lang="es-E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</a:br>
            <a:endParaRPr lang="en-US" sz="12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93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7D28E3-D70D-C881-EBED-C7C5C9ED87F1}"/>
              </a:ext>
            </a:extLst>
          </p:cNvPr>
          <p:cNvSpPr txBox="1"/>
          <p:nvPr/>
        </p:nvSpPr>
        <p:spPr>
          <a:xfrm>
            <a:off x="344774" y="799781"/>
            <a:ext cx="82520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¿Por qué contar productos en anaqueles es difícil?</a:t>
            </a:r>
          </a:p>
          <a:p>
            <a:endParaRPr lang="es-ES" dirty="0"/>
          </a:p>
          <a:p>
            <a:r>
              <a:rPr lang="es-ES" dirty="0"/>
              <a:t>En tiendas reales, contar productos manualmente es lento, costoso y propenso a errores.</a:t>
            </a:r>
          </a:p>
          <a:p>
            <a:r>
              <a:rPr lang="es-ES" dirty="0"/>
              <a:t>Las imágenes de anaqueles presentan varios retos: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dirty="0"/>
              <a:t>Múltiples </a:t>
            </a:r>
            <a:r>
              <a:rPr lang="es-ES" sz="1600" b="1" dirty="0"/>
              <a:t>niveles (</a:t>
            </a:r>
            <a:r>
              <a:rPr lang="es-ES" sz="1600" b="1" dirty="0" err="1"/>
              <a:t>shelves</a:t>
            </a:r>
            <a:r>
              <a:rPr lang="es-ES" sz="1600" b="1" dirty="0"/>
              <a:t>)</a:t>
            </a:r>
            <a:r>
              <a:rPr lang="es-ES" sz="1600" dirty="0"/>
              <a:t> en una sola imagen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dirty="0"/>
              <a:t>Productos </a:t>
            </a:r>
            <a:r>
              <a:rPr lang="es-ES" sz="1600" b="1" dirty="0"/>
              <a:t>muy similares entre sí</a:t>
            </a:r>
            <a:r>
              <a:rPr lang="es-ES" sz="1600" dirty="0"/>
              <a:t> (latas vs botellas)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dirty="0"/>
              <a:t>Diferentes profundidades (filas al fondo que no siempre se ven completas)Condiciones variables: iluminación, color, blanco y negro</a:t>
            </a:r>
          </a:p>
          <a:p>
            <a:endParaRPr lang="es-ES" dirty="0"/>
          </a:p>
          <a:p>
            <a:r>
              <a:rPr lang="es-ES" dirty="0"/>
              <a:t>     La mayoría de las soluciones se enfocan solo en detección con redes neuronales, pero eso </a:t>
            </a:r>
            <a:r>
              <a:rPr lang="es-ES" b="1" dirty="0"/>
              <a:t>no es suficiente</a:t>
            </a:r>
            <a:r>
              <a:rPr lang="es-ES" dirty="0"/>
              <a:t> para un conteo confiable en escenarios reales.</a:t>
            </a:r>
          </a:p>
          <a:p>
            <a:endParaRPr lang="es-ES" dirty="0"/>
          </a:p>
          <a:p>
            <a:r>
              <a:rPr lang="es-ES" dirty="0"/>
              <a:t>     </a:t>
            </a:r>
            <a:r>
              <a:rPr lang="es-ES" b="1" dirty="0"/>
              <a:t>Nuestra meta</a:t>
            </a:r>
            <a:r>
              <a:rPr lang="es-ES" dirty="0"/>
              <a:t>: automatizar el conteo sin depender de reglas frágiles ni ajustes manuales por imagen.</a:t>
            </a:r>
            <a:endParaRPr lang="es-MX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F925C3F5-3C50-D4FF-25D9-55EFFC3A10D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r>
              <a:rPr lang="es-ES" sz="2800" dirty="0">
                <a:solidFill>
                  <a:schemeClr val="bg1"/>
                </a:solidFill>
              </a:rPr>
              <a:t>El problema que queremos resolver</a:t>
            </a:r>
            <a:endParaRPr lang="es-MX" sz="28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26A593-3065-8745-7158-9046CB84DA21}"/>
              </a:ext>
            </a:extLst>
          </p:cNvPr>
          <p:cNvCxnSpPr/>
          <p:nvPr/>
        </p:nvCxnSpPr>
        <p:spPr>
          <a:xfrm>
            <a:off x="290941" y="4305992"/>
            <a:ext cx="0" cy="61552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173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268A-3051-1FF4-18E0-2425C912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449FEF-C4DE-164A-5F5E-EE36FD537871}"/>
              </a:ext>
            </a:extLst>
          </p:cNvPr>
          <p:cNvSpPr txBox="1"/>
          <p:nvPr/>
        </p:nvSpPr>
        <p:spPr>
          <a:xfrm>
            <a:off x="344774" y="804672"/>
            <a:ext cx="8252085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Una combinación de visión clásica + </a:t>
            </a:r>
            <a:r>
              <a:rPr lang="es-ES" b="1" dirty="0" err="1"/>
              <a:t>deep</a:t>
            </a:r>
            <a:r>
              <a:rPr lang="es-ES" b="1" dirty="0"/>
              <a:t> </a:t>
            </a:r>
            <a:r>
              <a:rPr lang="es-ES" b="1" dirty="0" err="1"/>
              <a:t>learning</a:t>
            </a:r>
            <a:endParaRPr lang="es-ES" b="1" dirty="0"/>
          </a:p>
          <a:p>
            <a:r>
              <a:rPr lang="es-ES" dirty="0"/>
              <a:t>En lugar de usar un solo modelo, el sistema </a:t>
            </a:r>
            <a:r>
              <a:rPr lang="es-ES" b="1" dirty="0"/>
              <a:t>imita cómo una persona analiza un anaquel</a:t>
            </a:r>
            <a:r>
              <a:rPr lang="es-ES" dirty="0"/>
              <a:t>:</a:t>
            </a:r>
          </a:p>
          <a:p>
            <a:r>
              <a:rPr lang="es-ES" b="1" dirty="0"/>
              <a:t>Primero entiende la estructura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Detecta cuántos niveles tiene el anaquel y dónde empieza y termina cada uno.</a:t>
            </a:r>
          </a:p>
          <a:p>
            <a:r>
              <a:rPr lang="es-ES" b="1" dirty="0"/>
              <a:t>Luego separa los productos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Usa gradientes y contornos para identificar objetos individuales dentro de cada nivel.</a:t>
            </a:r>
          </a:p>
          <a:p>
            <a:r>
              <a:rPr lang="es-ES" b="1" dirty="0"/>
              <a:t>Finalmente valida con 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YOLOv8 actúa como una segunda opinión para confirmar detecciones.</a:t>
            </a:r>
          </a:p>
          <a:p>
            <a:endParaRPr lang="es-ES" sz="1050" dirty="0"/>
          </a:p>
          <a:p>
            <a:r>
              <a:rPr lang="es-ES" dirty="0"/>
              <a:t>Todas estas señales se combinan en una sola decisión final, evitando depender de una única técnica.</a:t>
            </a:r>
          </a:p>
          <a:p>
            <a:r>
              <a:rPr lang="es-ES" dirty="0"/>
              <a:t>Esto hace que el sistema sea más robusto ante cambios de iluminación, color o marca.</a:t>
            </a:r>
            <a:endParaRPr lang="es-MX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4E8EA81-7442-CC04-FDEB-DFDE502BD0F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r>
              <a:rPr lang="es-ES" sz="2800" dirty="0">
                <a:solidFill>
                  <a:schemeClr val="bg1"/>
                </a:solidFill>
              </a:rPr>
              <a:t>Cómo piensa el sistema (en palabras simples)</a:t>
            </a:r>
            <a:endParaRPr lang="es-MX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339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r>
              <a:rPr lang="es-MX" sz="2800" dirty="0">
                <a:solidFill>
                  <a:schemeClr val="bg1"/>
                </a:solidFill>
              </a:rPr>
              <a:t>Resultados — Pruebas Realizadas</a:t>
            </a:r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114800"/>
          </a:xfrm>
          <a:prstGeom prst="rect">
            <a:avLst/>
          </a:prstGeom>
          <a:noFill/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1 — Walmart Coca-Cola</a:t>
            </a:r>
            <a:endParaRPr lang="en-US" sz="1150" dirty="0"/>
          </a:p>
        </p:txBody>
      </p:sp>
      <p:pic>
        <p:nvPicPr>
          <p:cNvPr id="6" name="Image 0" descr="/home/claude/slide_v4.png"/>
          <p:cNvPicPr>
            <a:picLocks noChangeAspect="1"/>
          </p:cNvPicPr>
          <p:nvPr/>
        </p:nvPicPr>
        <p:blipFill>
          <a:blip r:embed="rId3"/>
          <a:srcRect t="3077"/>
          <a:stretch>
            <a:fillRect/>
          </a:stretch>
        </p:blipFill>
        <p:spPr>
          <a:xfrm>
            <a:off x="274320" y="1280160"/>
            <a:ext cx="4023360" cy="2304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4 niveles detectados  ·  </a:t>
            </a:r>
            <a:r>
              <a:rPr lang="en-US" sz="1000" dirty="0"/>
              <a:t>75 vis / ~106 total</a:t>
            </a:r>
          </a:p>
        </p:txBody>
      </p:sp>
      <p:sp>
        <p:nvSpPr>
          <p:cNvPr id="8" name="Text 5"/>
          <p:cNvSpPr/>
          <p:nvPr/>
        </p:nvSpPr>
        <p:spPr>
          <a:xfrm>
            <a:off x="320040" y="39319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Shelf 1: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Botellas (azul)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Shelf 2: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Cajas (naranja)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⚠️ Shelf 3: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Latas + botellas mezcladas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Shelf 4: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Cajas (naranja)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777240"/>
            <a:ext cx="4206240" cy="4114800"/>
          </a:xfrm>
          <a:prstGeom prst="rect">
            <a:avLst/>
          </a:prstGeom>
          <a:noFill/>
          <a:ln w="1905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489204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2 — Kombucha B&amp;N</a:t>
            </a:r>
            <a:endParaRPr lang="en-US" sz="1150" dirty="0"/>
          </a:p>
        </p:txBody>
      </p:sp>
      <p:pic>
        <p:nvPicPr>
          <p:cNvPr id="11" name="Image 1" descr="/home/claude/slide_v5.png"/>
          <p:cNvPicPr>
            <a:picLocks noChangeAspect="1"/>
          </p:cNvPicPr>
          <p:nvPr/>
        </p:nvPicPr>
        <p:blipFill>
          <a:blip r:embed="rId4"/>
          <a:srcRect t="3077"/>
          <a:stretch>
            <a:fillRect/>
          </a:stretch>
        </p:blipFill>
        <p:spPr>
          <a:xfrm>
            <a:off x="4846320" y="1280160"/>
            <a:ext cx="4023360" cy="23042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2 niveles detectados  ·  </a:t>
            </a:r>
            <a:r>
              <a:rPr lang="en-US" sz="1000" dirty="0"/>
              <a:t>57 vis / ~123 total</a:t>
            </a:r>
          </a:p>
        </p:txBody>
      </p:sp>
      <p:sp>
        <p:nvSpPr>
          <p:cNvPr id="13" name="Text 9"/>
          <p:cNvSpPr/>
          <p:nvPr/>
        </p:nvSpPr>
        <p:spPr>
          <a:xfrm>
            <a:off x="4892040" y="39319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✅ B&amp;N detectado automáticamente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⚠️ Shelf 1: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Latas y botellas mezcladas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⚠️ Shelf 2: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Latas y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botellas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mezcladas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8678B-0834-F852-C4AF-68F7B567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941AD5-A7BB-3D41-F473-31BB8B86983D}"/>
              </a:ext>
            </a:extLst>
          </p:cNvPr>
          <p:cNvSpPr txBox="1"/>
          <p:nvPr/>
        </p:nvSpPr>
        <p:spPr>
          <a:xfrm>
            <a:off x="344774" y="1005442"/>
            <a:ext cx="82520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Resultados</a:t>
            </a:r>
            <a:r>
              <a:rPr lang="es-E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sistema detecta niveles automáticamente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Cuenta productos visibles y </a:t>
            </a:r>
            <a:r>
              <a:rPr lang="es-ES" b="1" dirty="0"/>
              <a:t>estima el total considerando profundidad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Funciona tanto en imágenes a </a:t>
            </a:r>
            <a:r>
              <a:rPr lang="es-ES" b="1" dirty="0"/>
              <a:t>color como en blanco y negro</a:t>
            </a:r>
          </a:p>
          <a:p>
            <a:r>
              <a:rPr lang="es-ES" b="1" dirty="0"/>
              <a:t>Lo aprendido</a:t>
            </a:r>
            <a:r>
              <a:rPr lang="es-E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geometría funciona bien para el conteo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clasificación lata/botella necesita más información visual</a:t>
            </a:r>
          </a:p>
          <a:p>
            <a:r>
              <a:rPr lang="es-ES" b="1" dirty="0"/>
              <a:t>Siguiente paso natural: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Probar con profundidad métrica en lugar de heurística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Pasar de “contar objetos” a mapear posiciones exactas en el anaquel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EEA2BCE-B868-2669-C277-BB62445E838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r>
              <a:rPr lang="es-ES" sz="2800" dirty="0">
                <a:solidFill>
                  <a:schemeClr val="bg1"/>
                </a:solidFill>
              </a:rPr>
              <a:t>Qué logramos y qué sigue</a:t>
            </a:r>
            <a:endParaRPr lang="es-MX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25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445</Words>
  <Application>Microsoft Office PowerPoint</Application>
  <PresentationFormat>On-screen Show (16:9)</PresentationFormat>
  <Paragraphs>55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Shelf Product Counter — Resumen del Proyecto</dc:title>
  <dc:subject>PptxGenJS Presentation</dc:subject>
  <dc:creator>PptxGenJS</dc:creator>
  <cp:lastModifiedBy>Consuelo Ruiz</cp:lastModifiedBy>
  <cp:revision>4</cp:revision>
  <dcterms:created xsi:type="dcterms:W3CDTF">2026-03-09T00:15:44Z</dcterms:created>
  <dcterms:modified xsi:type="dcterms:W3CDTF">2026-03-09T03:45:16Z</dcterms:modified>
</cp:coreProperties>
</file>